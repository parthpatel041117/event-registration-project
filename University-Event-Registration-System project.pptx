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4630400" cy="8229600"/>
  <p:notesSz cx="8229600" cy="14630400"/>
  <p:embeddedFontLst>
    <p:embeddedFont>
      <p:font typeface="Roboto" panose="02000000000000000000" pitchFamily="2" charset="0"/>
      <p:regular r:id="rId9"/>
    </p:embeddedFont>
    <p:embeddedFont>
      <p:font typeface="Roboto Slab" pitchFamily="2" charset="0"/>
      <p:regular r:id="rId1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7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0" d="100"/>
          <a:sy n="80" d="100"/>
        </p:scale>
        <p:origin x="139"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31590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943451"/>
            <a:ext cx="7556421" cy="1240155"/>
          </a:xfrm>
          <a:prstGeom prst="rect">
            <a:avLst/>
          </a:prstGeom>
          <a:noFill/>
          <a:ln/>
        </p:spPr>
        <p:txBody>
          <a:bodyPr wrap="square" lIns="0" tIns="0" rIns="0" bIns="0" rtlCol="0" anchor="t"/>
          <a:lstStyle/>
          <a:p>
            <a:pPr marL="0" indent="0" algn="l">
              <a:lnSpc>
                <a:spcPts val="4850"/>
              </a:lnSpc>
              <a:buNone/>
            </a:pPr>
            <a:r>
              <a:rPr lang="en-US" sz="3900" dirty="0">
                <a:solidFill>
                  <a:srgbClr val="76B9FF"/>
                </a:solidFill>
                <a:latin typeface="Roboto Slab" pitchFamily="34" charset="0"/>
                <a:ea typeface="Roboto Slab" pitchFamily="34" charset="-122"/>
                <a:cs typeface="Roboto Slab" pitchFamily="34" charset="-120"/>
              </a:rPr>
              <a:t>University Event Registration System</a:t>
            </a:r>
            <a:endParaRPr lang="en-US" sz="3900" dirty="0"/>
          </a:p>
        </p:txBody>
      </p:sp>
      <p:sp>
        <p:nvSpPr>
          <p:cNvPr id="4" name="Text 1"/>
          <p:cNvSpPr/>
          <p:nvPr/>
        </p:nvSpPr>
        <p:spPr>
          <a:xfrm>
            <a:off x="793790" y="2262902"/>
            <a:ext cx="4506992" cy="310158"/>
          </a:xfrm>
          <a:prstGeom prst="rect">
            <a:avLst/>
          </a:prstGeom>
          <a:noFill/>
          <a:ln/>
        </p:spPr>
        <p:txBody>
          <a:bodyPr wrap="none" lIns="0" tIns="0" rIns="0" bIns="0" rtlCol="0" anchor="t"/>
          <a:lstStyle/>
          <a:p>
            <a:pPr marL="0" indent="0" algn="l">
              <a:lnSpc>
                <a:spcPts val="2400"/>
              </a:lnSpc>
              <a:buNone/>
            </a:pPr>
            <a:r>
              <a:rPr lang="en-US" sz="1950" dirty="0">
                <a:solidFill>
                  <a:srgbClr val="76B9FF"/>
                </a:solidFill>
                <a:latin typeface="Roboto Slab" pitchFamily="34" charset="0"/>
                <a:ea typeface="Roboto Slab" pitchFamily="34" charset="-122"/>
                <a:cs typeface="Roboto Slab" pitchFamily="34" charset="-120"/>
              </a:rPr>
              <a:t>Cloud-Based Scalable Web Application</a:t>
            </a:r>
            <a:endParaRPr lang="en-US" sz="1950" dirty="0"/>
          </a:p>
        </p:txBody>
      </p:sp>
      <p:sp>
        <p:nvSpPr>
          <p:cNvPr id="5" name="Text 2"/>
          <p:cNvSpPr/>
          <p:nvPr/>
        </p:nvSpPr>
        <p:spPr>
          <a:xfrm>
            <a:off x="793790" y="2870716"/>
            <a:ext cx="7556421" cy="1587698"/>
          </a:xfrm>
          <a:prstGeom prst="rect">
            <a:avLst/>
          </a:prstGeom>
          <a:noFill/>
          <a:ln/>
        </p:spPr>
        <p:txBody>
          <a:bodyPr wrap="square" lIns="0" tIns="0" rIns="0" bIns="0" rtlCol="0" anchor="t"/>
          <a:lstStyle/>
          <a:p>
            <a:pPr marL="0" indent="0" algn="l">
              <a:lnSpc>
                <a:spcPts val="2500"/>
              </a:lnSpc>
              <a:buNone/>
            </a:pPr>
            <a:r>
              <a:rPr lang="en-US" sz="1550" dirty="0">
                <a:solidFill>
                  <a:srgbClr val="D6E5EF"/>
                </a:solidFill>
                <a:latin typeface="Roboto" pitchFamily="34" charset="0"/>
                <a:ea typeface="Roboto" pitchFamily="34" charset="-122"/>
                <a:cs typeface="Roboto" pitchFamily="34" charset="-120"/>
              </a:rPr>
              <a:t>A modern, serverless event management platform built on </a:t>
            </a:r>
            <a:r>
              <a:rPr lang="en-US" sz="1550" b="1" dirty="0">
                <a:solidFill>
                  <a:srgbClr val="D6E5EF"/>
                </a:solidFill>
                <a:latin typeface="Roboto" pitchFamily="34" charset="0"/>
                <a:ea typeface="Roboto" pitchFamily="34" charset="-122"/>
                <a:cs typeface="Roboto" pitchFamily="34" charset="-120"/>
              </a:rPr>
              <a:t>Google Cloud Platform</a:t>
            </a:r>
            <a:r>
              <a:rPr lang="en-US" sz="1550" dirty="0">
                <a:solidFill>
                  <a:srgbClr val="D6E5EF"/>
                </a:solidFill>
                <a:latin typeface="Roboto" pitchFamily="34" charset="0"/>
                <a:ea typeface="Roboto" pitchFamily="34" charset="-122"/>
                <a:cs typeface="Roboto" pitchFamily="34" charset="-120"/>
              </a:rPr>
              <a:t>, designed to streamline student event registration across Tech Fests, Cultural Events, Workshops, and more. This project demonstrates the practical application of cloud-native architecture — including IaaS, PaaS, and SaaS principles — to solve real-world university challenges at scale.</a:t>
            </a:r>
            <a:endParaRPr lang="en-US" sz="1550" dirty="0"/>
          </a:p>
        </p:txBody>
      </p:sp>
      <p:sp>
        <p:nvSpPr>
          <p:cNvPr id="6" name="Shape 3"/>
          <p:cNvSpPr/>
          <p:nvPr/>
        </p:nvSpPr>
        <p:spPr>
          <a:xfrm>
            <a:off x="793790" y="4681657"/>
            <a:ext cx="7556421" cy="2604492"/>
          </a:xfrm>
          <a:prstGeom prst="roundRect">
            <a:avLst>
              <a:gd name="adj" fmla="val 1143"/>
            </a:avLst>
          </a:prstGeom>
          <a:solidFill>
            <a:srgbClr val="3F4652"/>
          </a:solidFill>
          <a:ln/>
        </p:spPr>
      </p:sp>
      <p:sp>
        <p:nvSpPr>
          <p:cNvPr id="7" name="Shape 4"/>
          <p:cNvSpPr/>
          <p:nvPr/>
        </p:nvSpPr>
        <p:spPr>
          <a:xfrm>
            <a:off x="793790" y="4681657"/>
            <a:ext cx="3778210" cy="1461016"/>
          </a:xfrm>
          <a:prstGeom prst="roundRect">
            <a:avLst>
              <a:gd name="adj" fmla="val 2038"/>
            </a:avLst>
          </a:prstGeom>
          <a:solidFill>
            <a:srgbClr val="3F4652"/>
          </a:solidFill>
          <a:ln/>
        </p:spPr>
      </p:sp>
      <p:sp>
        <p:nvSpPr>
          <p:cNvPr id="8" name="Text 5"/>
          <p:cNvSpPr/>
          <p:nvPr/>
        </p:nvSpPr>
        <p:spPr>
          <a:xfrm>
            <a:off x="992148" y="4880015"/>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D6E5EF"/>
                </a:solidFill>
                <a:latin typeface="Roboto Slab" pitchFamily="34" charset="0"/>
                <a:ea typeface="Roboto Slab" pitchFamily="34" charset="-122"/>
                <a:cs typeface="Roboto Slab" pitchFamily="34" charset="-120"/>
              </a:rPr>
              <a:t> Project Team</a:t>
            </a:r>
            <a:endParaRPr lang="en-US" sz="1950" dirty="0"/>
          </a:p>
        </p:txBody>
      </p:sp>
      <p:sp>
        <p:nvSpPr>
          <p:cNvPr id="9" name="Text 6"/>
          <p:cNvSpPr/>
          <p:nvPr/>
        </p:nvSpPr>
        <p:spPr>
          <a:xfrm>
            <a:off x="992148" y="5309235"/>
            <a:ext cx="3381494" cy="635079"/>
          </a:xfrm>
          <a:prstGeom prst="rect">
            <a:avLst/>
          </a:prstGeom>
          <a:noFill/>
          <a:ln/>
        </p:spPr>
        <p:txBody>
          <a:bodyPr wrap="square" lIns="0" tIns="0" rIns="0" bIns="0" rtlCol="0" anchor="t"/>
          <a:lstStyle/>
          <a:p>
            <a:pPr marL="0" indent="0" algn="ctr">
              <a:lnSpc>
                <a:spcPts val="2500"/>
              </a:lnSpc>
              <a:buNone/>
            </a:pPr>
            <a:r>
              <a:rPr lang="en-US" sz="1550" dirty="0">
                <a:solidFill>
                  <a:srgbClr val="D6E5EF"/>
                </a:solidFill>
                <a:latin typeface="Roboto" pitchFamily="34" charset="0"/>
                <a:ea typeface="Roboto" pitchFamily="34" charset="-122"/>
                <a:cs typeface="Roboto" pitchFamily="34" charset="-120"/>
              </a:rPr>
              <a:t> Neil Thakkar (KU2507U0028) </a:t>
            </a:r>
          </a:p>
          <a:p>
            <a:pPr marL="0" indent="0" algn="ctr">
              <a:lnSpc>
                <a:spcPts val="2500"/>
              </a:lnSpc>
              <a:buNone/>
            </a:pPr>
            <a:r>
              <a:rPr lang="en-US" sz="1550" dirty="0">
                <a:solidFill>
                  <a:srgbClr val="D6E5EF"/>
                </a:solidFill>
                <a:latin typeface="Roboto" pitchFamily="34" charset="0"/>
                <a:ea typeface="Roboto" pitchFamily="34" charset="-122"/>
                <a:cs typeface="Roboto" pitchFamily="34" charset="-120"/>
              </a:rPr>
              <a:t>Parth Patel (KU2507U0023)</a:t>
            </a:r>
            <a:endParaRPr lang="en-US" sz="1550" dirty="0"/>
          </a:p>
        </p:txBody>
      </p:sp>
      <p:sp>
        <p:nvSpPr>
          <p:cNvPr id="10" name="Shape 7"/>
          <p:cNvSpPr/>
          <p:nvPr/>
        </p:nvSpPr>
        <p:spPr>
          <a:xfrm>
            <a:off x="4572000" y="4681657"/>
            <a:ext cx="3778210" cy="1461016"/>
          </a:xfrm>
          <a:prstGeom prst="rect">
            <a:avLst/>
          </a:prstGeom>
          <a:solidFill>
            <a:srgbClr val="3F4652"/>
          </a:solidFill>
          <a:ln/>
        </p:spPr>
      </p:sp>
      <p:sp>
        <p:nvSpPr>
          <p:cNvPr id="11" name="Shape 8"/>
          <p:cNvSpPr/>
          <p:nvPr/>
        </p:nvSpPr>
        <p:spPr>
          <a:xfrm>
            <a:off x="4572000" y="4681657"/>
            <a:ext cx="22860" cy="1461016"/>
          </a:xfrm>
          <a:prstGeom prst="roundRect">
            <a:avLst>
              <a:gd name="adj" fmla="val 130232"/>
            </a:avLst>
          </a:prstGeom>
          <a:solidFill>
            <a:srgbClr val="585F6B"/>
          </a:solidFill>
          <a:ln/>
        </p:spPr>
      </p:sp>
      <p:sp>
        <p:nvSpPr>
          <p:cNvPr id="12" name="Text 9"/>
          <p:cNvSpPr/>
          <p:nvPr/>
        </p:nvSpPr>
        <p:spPr>
          <a:xfrm>
            <a:off x="4770358" y="4880015"/>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D6E5EF"/>
                </a:solidFill>
                <a:latin typeface="Roboto Slab" pitchFamily="34" charset="0"/>
                <a:ea typeface="Roboto Slab" pitchFamily="34" charset="-122"/>
                <a:cs typeface="Roboto Slab" pitchFamily="34" charset="-120"/>
              </a:rPr>
              <a:t>Platform</a:t>
            </a:r>
            <a:endParaRPr lang="en-US" sz="1950" dirty="0"/>
          </a:p>
        </p:txBody>
      </p:sp>
      <p:sp>
        <p:nvSpPr>
          <p:cNvPr id="13" name="Text 10"/>
          <p:cNvSpPr/>
          <p:nvPr/>
        </p:nvSpPr>
        <p:spPr>
          <a:xfrm>
            <a:off x="4770358" y="5309235"/>
            <a:ext cx="3381494" cy="635079"/>
          </a:xfrm>
          <a:prstGeom prst="rect">
            <a:avLst/>
          </a:prstGeom>
          <a:noFill/>
          <a:ln/>
        </p:spPr>
        <p:txBody>
          <a:bodyPr wrap="square" lIns="0" tIns="0" rIns="0" bIns="0" rtlCol="0" anchor="t"/>
          <a:lstStyle/>
          <a:p>
            <a:pPr marL="0" indent="0" algn="l">
              <a:lnSpc>
                <a:spcPts val="2500"/>
              </a:lnSpc>
              <a:buNone/>
            </a:pPr>
            <a:r>
              <a:rPr lang="en-US" sz="1550" dirty="0">
                <a:solidFill>
                  <a:srgbClr val="D6E5EF"/>
                </a:solidFill>
                <a:latin typeface="Roboto" pitchFamily="34" charset="0"/>
                <a:ea typeface="Roboto" pitchFamily="34" charset="-122"/>
                <a:cs typeface="Roboto" pitchFamily="34" charset="-120"/>
              </a:rPr>
              <a:t>Google Cloud Platform (GCP) Serverless Architecture</a:t>
            </a:r>
            <a:endParaRPr lang="en-US" sz="1550" dirty="0"/>
          </a:p>
        </p:txBody>
      </p:sp>
      <p:sp>
        <p:nvSpPr>
          <p:cNvPr id="14" name="Shape 11"/>
          <p:cNvSpPr/>
          <p:nvPr/>
        </p:nvSpPr>
        <p:spPr>
          <a:xfrm>
            <a:off x="793790" y="6142673"/>
            <a:ext cx="7556421" cy="1143476"/>
          </a:xfrm>
          <a:prstGeom prst="rect">
            <a:avLst/>
          </a:prstGeom>
          <a:solidFill>
            <a:srgbClr val="3F4652"/>
          </a:solidFill>
          <a:ln/>
        </p:spPr>
      </p:sp>
      <p:sp>
        <p:nvSpPr>
          <p:cNvPr id="15" name="Shape 12"/>
          <p:cNvSpPr/>
          <p:nvPr/>
        </p:nvSpPr>
        <p:spPr>
          <a:xfrm>
            <a:off x="793790" y="6142673"/>
            <a:ext cx="7556421" cy="22860"/>
          </a:xfrm>
          <a:prstGeom prst="roundRect">
            <a:avLst>
              <a:gd name="adj" fmla="val 130232"/>
            </a:avLst>
          </a:prstGeom>
          <a:solidFill>
            <a:srgbClr val="585F6B"/>
          </a:solidFill>
          <a:ln/>
        </p:spPr>
      </p:sp>
      <p:sp>
        <p:nvSpPr>
          <p:cNvPr id="16" name="Text 13"/>
          <p:cNvSpPr/>
          <p:nvPr/>
        </p:nvSpPr>
        <p:spPr>
          <a:xfrm>
            <a:off x="992148" y="6341031"/>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D6E5EF"/>
                </a:solidFill>
                <a:latin typeface="Roboto Slab" pitchFamily="34" charset="0"/>
                <a:ea typeface="Roboto Slab" pitchFamily="34" charset="-122"/>
                <a:cs typeface="Roboto Slab" pitchFamily="34" charset="-120"/>
              </a:rPr>
              <a:t>Academic Year</a:t>
            </a:r>
            <a:endParaRPr lang="en-US" sz="1950" dirty="0"/>
          </a:p>
        </p:txBody>
      </p:sp>
      <p:sp>
        <p:nvSpPr>
          <p:cNvPr id="17" name="Text 14"/>
          <p:cNvSpPr/>
          <p:nvPr/>
        </p:nvSpPr>
        <p:spPr>
          <a:xfrm>
            <a:off x="992148" y="6770251"/>
            <a:ext cx="7159704" cy="317540"/>
          </a:xfrm>
          <a:prstGeom prst="rect">
            <a:avLst/>
          </a:prstGeom>
          <a:noFill/>
          <a:ln/>
        </p:spPr>
        <p:txBody>
          <a:bodyPr wrap="none" lIns="0" tIns="0" rIns="0" bIns="0" rtlCol="0" anchor="t"/>
          <a:lstStyle/>
          <a:p>
            <a:pPr marL="0" indent="0" algn="l">
              <a:lnSpc>
                <a:spcPts val="2500"/>
              </a:lnSpc>
              <a:buNone/>
            </a:pPr>
            <a:r>
              <a:rPr lang="en-US" sz="1550" dirty="0">
                <a:solidFill>
                  <a:srgbClr val="D6E5EF"/>
                </a:solidFill>
                <a:latin typeface="Roboto" pitchFamily="34" charset="0"/>
                <a:ea typeface="Roboto" pitchFamily="34" charset="-122"/>
                <a:cs typeface="Roboto" pitchFamily="34" charset="-120"/>
              </a:rPr>
              <a:t>2024–2025 Final Year Project Submission</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02707" y="848439"/>
            <a:ext cx="10270331" cy="548997"/>
          </a:xfrm>
          <a:prstGeom prst="rect">
            <a:avLst/>
          </a:prstGeom>
          <a:noFill/>
          <a:ln/>
        </p:spPr>
        <p:txBody>
          <a:bodyPr wrap="none" lIns="0" tIns="0" rIns="0" bIns="0" rtlCol="0" anchor="t"/>
          <a:lstStyle/>
          <a:p>
            <a:pPr marL="0" indent="0" algn="l">
              <a:lnSpc>
                <a:spcPts val="4300"/>
              </a:lnSpc>
              <a:buNone/>
            </a:pPr>
            <a:r>
              <a:rPr lang="en-US" sz="3450" dirty="0">
                <a:solidFill>
                  <a:srgbClr val="76B9FF"/>
                </a:solidFill>
                <a:latin typeface="Roboto Slab" pitchFamily="34" charset="0"/>
                <a:ea typeface="Roboto Slab" pitchFamily="34" charset="-122"/>
                <a:cs typeface="Roboto Slab" pitchFamily="34" charset="-120"/>
              </a:rPr>
              <a:t>The Problem: Scaling Student Event Management</a:t>
            </a:r>
            <a:endParaRPr lang="en-US" sz="3450" dirty="0"/>
          </a:p>
        </p:txBody>
      </p:sp>
      <p:sp>
        <p:nvSpPr>
          <p:cNvPr id="3" name="Text 1"/>
          <p:cNvSpPr/>
          <p:nvPr/>
        </p:nvSpPr>
        <p:spPr>
          <a:xfrm>
            <a:off x="702707" y="1708428"/>
            <a:ext cx="13224986" cy="530066"/>
          </a:xfrm>
          <a:prstGeom prst="rect">
            <a:avLst/>
          </a:prstGeom>
          <a:noFill/>
          <a:ln/>
        </p:spPr>
        <p:txBody>
          <a:bodyPr wrap="square" lIns="0" tIns="0" rIns="0" bIns="0" rtlCol="0" anchor="t"/>
          <a:lstStyle/>
          <a:p>
            <a:pPr marL="0" indent="0" algn="l">
              <a:lnSpc>
                <a:spcPts val="2050"/>
              </a:lnSpc>
              <a:buNone/>
            </a:pPr>
            <a:r>
              <a:rPr lang="en-US" sz="1350" dirty="0">
                <a:solidFill>
                  <a:srgbClr val="D6E5EF"/>
                </a:solidFill>
                <a:latin typeface="Roboto" pitchFamily="34" charset="0"/>
                <a:ea typeface="Roboto" pitchFamily="34" charset="-122"/>
                <a:cs typeface="Roboto" pitchFamily="34" charset="-120"/>
              </a:rPr>
              <a:t>Universities host dozens of events each semester — Tech Fests, Cultural Showcases, Professional Workshops, Guest Lectures, and Inter-departmental Competitions. As student populations grow and event formats evolve, the systems meant to manage participation are struggling to keep up.</a:t>
            </a:r>
            <a:endParaRPr lang="en-US" sz="1350" dirty="0"/>
          </a:p>
        </p:txBody>
      </p:sp>
      <p:sp>
        <p:nvSpPr>
          <p:cNvPr id="4" name="Shape 2"/>
          <p:cNvSpPr/>
          <p:nvPr/>
        </p:nvSpPr>
        <p:spPr>
          <a:xfrm>
            <a:off x="576143" y="2413397"/>
            <a:ext cx="6651308" cy="4967764"/>
          </a:xfrm>
          <a:prstGeom prst="roundRect">
            <a:avLst>
              <a:gd name="adj" fmla="val 531"/>
            </a:avLst>
          </a:prstGeom>
          <a:solidFill>
            <a:srgbClr val="66A8EE"/>
          </a:solidFill>
          <a:ln/>
        </p:spPr>
      </p:sp>
      <p:sp>
        <p:nvSpPr>
          <p:cNvPr id="5" name="Text 3"/>
          <p:cNvSpPr/>
          <p:nvPr/>
        </p:nvSpPr>
        <p:spPr>
          <a:xfrm>
            <a:off x="751761" y="2568893"/>
            <a:ext cx="2196227" cy="274558"/>
          </a:xfrm>
          <a:prstGeom prst="rect">
            <a:avLst/>
          </a:prstGeom>
          <a:noFill/>
          <a:ln/>
        </p:spPr>
        <p:txBody>
          <a:bodyPr wrap="none" lIns="0" tIns="0" rIns="0" bIns="0" rtlCol="0" anchor="t"/>
          <a:lstStyle/>
          <a:p>
            <a:pPr marL="0" indent="0" algn="l">
              <a:lnSpc>
                <a:spcPts val="2150"/>
              </a:lnSpc>
              <a:buNone/>
            </a:pPr>
            <a:r>
              <a:rPr lang="en-US" sz="1700" dirty="0">
                <a:solidFill>
                  <a:srgbClr val="000000"/>
                </a:solidFill>
                <a:latin typeface="Roboto Slab" pitchFamily="34" charset="0"/>
                <a:ea typeface="Roboto Slab" pitchFamily="34" charset="-122"/>
                <a:cs typeface="Roboto Slab" pitchFamily="34" charset="-120"/>
              </a:rPr>
              <a:t>Current Pain Points</a:t>
            </a:r>
            <a:endParaRPr lang="en-US" sz="1700" dirty="0"/>
          </a:p>
        </p:txBody>
      </p:sp>
      <p:sp>
        <p:nvSpPr>
          <p:cNvPr id="6" name="Text 4"/>
          <p:cNvSpPr/>
          <p:nvPr/>
        </p:nvSpPr>
        <p:spPr>
          <a:xfrm>
            <a:off x="751761" y="2998946"/>
            <a:ext cx="6300073" cy="2867978"/>
          </a:xfrm>
          <a:prstGeom prst="rect">
            <a:avLst/>
          </a:prstGeom>
          <a:noFill/>
          <a:ln/>
        </p:spPr>
        <p:txBody>
          <a:bodyPr wrap="square" lIns="0" tIns="0" rIns="0" bIns="0" rtlCol="0" anchor="t"/>
          <a:lstStyle/>
          <a:p>
            <a:pPr marL="342900" indent="-342900" algn="l">
              <a:lnSpc>
                <a:spcPts val="2050"/>
              </a:lnSpc>
              <a:buSzPct val="100000"/>
              <a:buChar char="•"/>
            </a:pPr>
            <a:r>
              <a:rPr lang="en-US" sz="1350" b="1" dirty="0">
                <a:solidFill>
                  <a:srgbClr val="000000"/>
                </a:solidFill>
                <a:latin typeface="Roboto" pitchFamily="34" charset="0"/>
                <a:ea typeface="Roboto" pitchFamily="34" charset="-122"/>
                <a:cs typeface="Roboto" pitchFamily="34" charset="-120"/>
              </a:rPr>
              <a:t>Manual registration</a:t>
            </a:r>
            <a:r>
              <a:rPr lang="en-US" sz="1350" dirty="0">
                <a:solidFill>
                  <a:srgbClr val="000000"/>
                </a:solidFill>
                <a:latin typeface="Roboto" pitchFamily="34" charset="0"/>
                <a:ea typeface="Roboto" pitchFamily="34" charset="-122"/>
                <a:cs typeface="Roboto" pitchFamily="34" charset="-120"/>
              </a:rPr>
              <a:t> via spreadsheets or paper forms leads to errors, duplication, and long wait times</a:t>
            </a:r>
            <a:endParaRPr lang="en-US" sz="1350" dirty="0"/>
          </a:p>
          <a:p>
            <a:pPr marL="342900" indent="-342900" algn="l">
              <a:lnSpc>
                <a:spcPts val="2050"/>
              </a:lnSpc>
              <a:buSzPct val="100000"/>
              <a:buChar char="•"/>
            </a:pPr>
            <a:r>
              <a:rPr lang="en-US" sz="1350" b="1" dirty="0">
                <a:solidFill>
                  <a:srgbClr val="000000"/>
                </a:solidFill>
                <a:latin typeface="Roboto" pitchFamily="34" charset="0"/>
                <a:ea typeface="Roboto" pitchFamily="34" charset="-122"/>
                <a:cs typeface="Roboto" pitchFamily="34" charset="-120"/>
              </a:rPr>
              <a:t>No real-time capacity tracking</a:t>
            </a:r>
            <a:r>
              <a:rPr lang="en-US" sz="1350" dirty="0">
                <a:solidFill>
                  <a:srgbClr val="000000"/>
                </a:solidFill>
                <a:latin typeface="Roboto" pitchFamily="34" charset="0"/>
                <a:ea typeface="Roboto" pitchFamily="34" charset="-122"/>
                <a:cs typeface="Roboto" pitchFamily="34" charset="-120"/>
              </a:rPr>
              <a:t> — events are frequently overbooked or under-attended</a:t>
            </a:r>
            <a:endParaRPr lang="en-US" sz="1350" dirty="0"/>
          </a:p>
          <a:p>
            <a:pPr marL="342900" indent="-342900" algn="l">
              <a:lnSpc>
                <a:spcPts val="2050"/>
              </a:lnSpc>
              <a:buSzPct val="100000"/>
              <a:buChar char="•"/>
            </a:pPr>
            <a:r>
              <a:rPr lang="en-US" sz="1350" b="1" dirty="0">
                <a:solidFill>
                  <a:srgbClr val="000000"/>
                </a:solidFill>
                <a:latin typeface="Roboto" pitchFamily="34" charset="0"/>
                <a:ea typeface="Roboto" pitchFamily="34" charset="-122"/>
                <a:cs typeface="Roboto" pitchFamily="34" charset="-120"/>
              </a:rPr>
              <a:t>Fragmented communication</a:t>
            </a:r>
            <a:r>
              <a:rPr lang="en-US" sz="1350" dirty="0">
                <a:solidFill>
                  <a:srgbClr val="000000"/>
                </a:solidFill>
                <a:latin typeface="Roboto" pitchFamily="34" charset="0"/>
                <a:ea typeface="Roboto" pitchFamily="34" charset="-122"/>
                <a:cs typeface="Roboto" pitchFamily="34" charset="-120"/>
              </a:rPr>
              <a:t> — students miss events due to lack of timely notifications</a:t>
            </a:r>
            <a:endParaRPr lang="en-US" sz="1350" dirty="0"/>
          </a:p>
          <a:p>
            <a:pPr marL="342900" indent="-342900" algn="l">
              <a:lnSpc>
                <a:spcPts val="2050"/>
              </a:lnSpc>
              <a:buSzPct val="100000"/>
              <a:buChar char="•"/>
            </a:pPr>
            <a:r>
              <a:rPr lang="en-US" sz="1350" b="1" dirty="0">
                <a:solidFill>
                  <a:srgbClr val="000000"/>
                </a:solidFill>
                <a:latin typeface="Roboto" pitchFamily="34" charset="0"/>
                <a:ea typeface="Roboto" pitchFamily="34" charset="-122"/>
                <a:cs typeface="Roboto" pitchFamily="34" charset="-120"/>
              </a:rPr>
              <a:t>Zero scalability</a:t>
            </a:r>
            <a:r>
              <a:rPr lang="en-US" sz="1350" dirty="0">
                <a:solidFill>
                  <a:srgbClr val="000000"/>
                </a:solidFill>
                <a:latin typeface="Roboto" pitchFamily="34" charset="0"/>
                <a:ea typeface="Roboto" pitchFamily="34" charset="-122"/>
                <a:cs typeface="Roboto" pitchFamily="34" charset="-120"/>
              </a:rPr>
              <a:t> — existing tools crash or slow down during high-demand periods like open registration windows</a:t>
            </a:r>
            <a:endParaRPr lang="en-US" sz="1350" dirty="0"/>
          </a:p>
          <a:p>
            <a:pPr marL="342900" indent="-342900" algn="l">
              <a:lnSpc>
                <a:spcPts val="2050"/>
              </a:lnSpc>
              <a:buSzPct val="100000"/>
              <a:buChar char="•"/>
            </a:pPr>
            <a:r>
              <a:rPr lang="en-US" sz="1350" b="1" dirty="0">
                <a:solidFill>
                  <a:srgbClr val="000000"/>
                </a:solidFill>
                <a:latin typeface="Roboto" pitchFamily="34" charset="0"/>
                <a:ea typeface="Roboto" pitchFamily="34" charset="-122"/>
                <a:cs typeface="Roboto" pitchFamily="34" charset="-120"/>
              </a:rPr>
              <a:t>Data silos</a:t>
            </a:r>
            <a:r>
              <a:rPr lang="en-US" sz="1350" dirty="0">
                <a:solidFill>
                  <a:srgbClr val="000000"/>
                </a:solidFill>
                <a:latin typeface="Roboto" pitchFamily="34" charset="0"/>
                <a:ea typeface="Roboto" pitchFamily="34" charset="-122"/>
                <a:cs typeface="Roboto" pitchFamily="34" charset="-120"/>
              </a:rPr>
              <a:t> — no centralized record for attendance history, event analytics, or student preferences</a:t>
            </a:r>
            <a:endParaRPr lang="en-US" sz="1350" dirty="0"/>
          </a:p>
        </p:txBody>
      </p:sp>
      <p:sp>
        <p:nvSpPr>
          <p:cNvPr id="7" name="Text 5"/>
          <p:cNvSpPr/>
          <p:nvPr/>
        </p:nvSpPr>
        <p:spPr>
          <a:xfrm>
            <a:off x="7537133" y="2568893"/>
            <a:ext cx="2196227" cy="274558"/>
          </a:xfrm>
          <a:prstGeom prst="rect">
            <a:avLst/>
          </a:prstGeom>
          <a:noFill/>
          <a:ln/>
        </p:spPr>
        <p:txBody>
          <a:bodyPr wrap="none" lIns="0" tIns="0" rIns="0" bIns="0" rtlCol="0" anchor="t"/>
          <a:lstStyle/>
          <a:p>
            <a:pPr marL="0" indent="0" algn="l">
              <a:lnSpc>
                <a:spcPts val="2150"/>
              </a:lnSpc>
              <a:buNone/>
            </a:pPr>
            <a:r>
              <a:rPr lang="en-US" sz="1700" dirty="0">
                <a:solidFill>
                  <a:srgbClr val="76B9FF"/>
                </a:solidFill>
                <a:latin typeface="Roboto Slab" pitchFamily="34" charset="0"/>
                <a:ea typeface="Roboto Slab" pitchFamily="34" charset="-122"/>
                <a:cs typeface="Roboto Slab" pitchFamily="34" charset="-120"/>
              </a:rPr>
              <a:t>What's Needed</a:t>
            </a:r>
            <a:endParaRPr lang="en-US" sz="1700" dirty="0"/>
          </a:p>
        </p:txBody>
      </p:sp>
      <p:sp>
        <p:nvSpPr>
          <p:cNvPr id="8" name="Text 6"/>
          <p:cNvSpPr/>
          <p:nvPr/>
        </p:nvSpPr>
        <p:spPr>
          <a:xfrm>
            <a:off x="7537133" y="2998946"/>
            <a:ext cx="6398181" cy="530066"/>
          </a:xfrm>
          <a:prstGeom prst="rect">
            <a:avLst/>
          </a:prstGeom>
          <a:noFill/>
          <a:ln/>
        </p:spPr>
        <p:txBody>
          <a:bodyPr wrap="square" lIns="0" tIns="0" rIns="0" bIns="0" rtlCol="0" anchor="t"/>
          <a:lstStyle/>
          <a:p>
            <a:pPr marL="0" indent="0" algn="l">
              <a:lnSpc>
                <a:spcPts val="2050"/>
              </a:lnSpc>
              <a:buNone/>
            </a:pPr>
            <a:r>
              <a:rPr lang="en-US" sz="1350" dirty="0">
                <a:solidFill>
                  <a:srgbClr val="D6E5EF"/>
                </a:solidFill>
                <a:latin typeface="Roboto" pitchFamily="34" charset="0"/>
                <a:ea typeface="Roboto" pitchFamily="34" charset="-122"/>
                <a:cs typeface="Roboto" pitchFamily="34" charset="-120"/>
              </a:rPr>
              <a:t>A robust, cloud-native solution that addresses all these limitations with modern infrastructure. The ideal system must be:</a:t>
            </a:r>
            <a:endParaRPr lang="en-US" sz="1350" dirty="0"/>
          </a:p>
        </p:txBody>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02974" y="3709273"/>
            <a:ext cx="263485" cy="263485"/>
          </a:xfrm>
          <a:prstGeom prst="rect">
            <a:avLst/>
          </a:prstGeom>
        </p:spPr>
      </p:pic>
      <p:sp>
        <p:nvSpPr>
          <p:cNvPr id="10" name="Text 7"/>
          <p:cNvSpPr/>
          <p:nvPr/>
        </p:nvSpPr>
        <p:spPr>
          <a:xfrm>
            <a:off x="8108037" y="3703915"/>
            <a:ext cx="2196227" cy="274558"/>
          </a:xfrm>
          <a:prstGeom prst="rect">
            <a:avLst/>
          </a:prstGeom>
          <a:noFill/>
          <a:ln/>
        </p:spPr>
        <p:txBody>
          <a:bodyPr wrap="none" lIns="0" tIns="0" rIns="0" bIns="0" rtlCol="0" anchor="t"/>
          <a:lstStyle/>
          <a:p>
            <a:pPr marL="0" indent="0" algn="l">
              <a:lnSpc>
                <a:spcPts val="2150"/>
              </a:lnSpc>
              <a:buNone/>
            </a:pPr>
            <a:r>
              <a:rPr lang="en-US" sz="1700" dirty="0">
                <a:solidFill>
                  <a:srgbClr val="D6E5EF"/>
                </a:solidFill>
                <a:latin typeface="Roboto Slab" pitchFamily="34" charset="0"/>
                <a:ea typeface="Roboto Slab" pitchFamily="34" charset="-122"/>
                <a:cs typeface="Roboto Slab" pitchFamily="34" charset="-120"/>
              </a:rPr>
              <a:t>Accessible</a:t>
            </a:r>
            <a:endParaRPr lang="en-US" sz="1700" dirty="0"/>
          </a:p>
        </p:txBody>
      </p:sp>
      <p:sp>
        <p:nvSpPr>
          <p:cNvPr id="11" name="Text 8"/>
          <p:cNvSpPr/>
          <p:nvPr/>
        </p:nvSpPr>
        <p:spPr>
          <a:xfrm>
            <a:off x="8108037" y="4133969"/>
            <a:ext cx="5827276" cy="530066"/>
          </a:xfrm>
          <a:prstGeom prst="rect">
            <a:avLst/>
          </a:prstGeom>
          <a:noFill/>
          <a:ln/>
        </p:spPr>
        <p:txBody>
          <a:bodyPr wrap="square" lIns="0" tIns="0" rIns="0" bIns="0" rtlCol="0" anchor="t"/>
          <a:lstStyle/>
          <a:p>
            <a:pPr marL="0" indent="0" algn="l">
              <a:lnSpc>
                <a:spcPts val="2050"/>
              </a:lnSpc>
              <a:buNone/>
            </a:pPr>
            <a:r>
              <a:rPr lang="en-US" sz="1350" dirty="0">
                <a:solidFill>
                  <a:srgbClr val="D6E5EF"/>
                </a:solidFill>
                <a:latin typeface="Roboto" pitchFamily="34" charset="0"/>
                <a:ea typeface="Roboto" pitchFamily="34" charset="-122"/>
                <a:cs typeface="Roboto" pitchFamily="34" charset="-120"/>
              </a:rPr>
              <a:t>Available from any device, anywhere — browser-based with no installation required</a:t>
            </a:r>
            <a:endParaRPr lang="en-US" sz="1350" dirty="0"/>
          </a:p>
        </p:txBody>
      </p:sp>
      <p:pic>
        <p:nvPicPr>
          <p:cNvPr id="12"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02974" y="4980384"/>
            <a:ext cx="263485" cy="263485"/>
          </a:xfrm>
          <a:prstGeom prst="rect">
            <a:avLst/>
          </a:prstGeom>
        </p:spPr>
      </p:pic>
      <p:sp>
        <p:nvSpPr>
          <p:cNvPr id="13" name="Text 9"/>
          <p:cNvSpPr/>
          <p:nvPr/>
        </p:nvSpPr>
        <p:spPr>
          <a:xfrm>
            <a:off x="8108037" y="4975027"/>
            <a:ext cx="2196227" cy="274558"/>
          </a:xfrm>
          <a:prstGeom prst="rect">
            <a:avLst/>
          </a:prstGeom>
          <a:noFill/>
          <a:ln/>
        </p:spPr>
        <p:txBody>
          <a:bodyPr wrap="none" lIns="0" tIns="0" rIns="0" bIns="0" rtlCol="0" anchor="t"/>
          <a:lstStyle/>
          <a:p>
            <a:pPr marL="0" indent="0" algn="l">
              <a:lnSpc>
                <a:spcPts val="2150"/>
              </a:lnSpc>
              <a:buNone/>
            </a:pPr>
            <a:r>
              <a:rPr lang="en-US" sz="1700" dirty="0">
                <a:solidFill>
                  <a:srgbClr val="D6E5EF"/>
                </a:solidFill>
                <a:latin typeface="Roboto Slab" pitchFamily="34" charset="0"/>
                <a:ea typeface="Roboto Slab" pitchFamily="34" charset="-122"/>
                <a:cs typeface="Roboto Slab" pitchFamily="34" charset="-120"/>
              </a:rPr>
              <a:t>Reliable</a:t>
            </a:r>
            <a:endParaRPr lang="en-US" sz="1700" dirty="0"/>
          </a:p>
        </p:txBody>
      </p:sp>
      <p:sp>
        <p:nvSpPr>
          <p:cNvPr id="14" name="Text 10"/>
          <p:cNvSpPr/>
          <p:nvPr/>
        </p:nvSpPr>
        <p:spPr>
          <a:xfrm>
            <a:off x="8108037" y="5405080"/>
            <a:ext cx="5827276" cy="530066"/>
          </a:xfrm>
          <a:prstGeom prst="rect">
            <a:avLst/>
          </a:prstGeom>
          <a:noFill/>
          <a:ln/>
        </p:spPr>
        <p:txBody>
          <a:bodyPr wrap="square" lIns="0" tIns="0" rIns="0" bIns="0" rtlCol="0" anchor="t"/>
          <a:lstStyle/>
          <a:p>
            <a:pPr marL="0" indent="0" algn="l">
              <a:lnSpc>
                <a:spcPts val="2050"/>
              </a:lnSpc>
              <a:buNone/>
            </a:pPr>
            <a:r>
              <a:rPr lang="en-US" sz="1350" dirty="0">
                <a:solidFill>
                  <a:srgbClr val="D6E5EF"/>
                </a:solidFill>
                <a:latin typeface="Roboto" pitchFamily="34" charset="0"/>
                <a:ea typeface="Roboto" pitchFamily="34" charset="-122"/>
                <a:cs typeface="Roboto" pitchFamily="34" charset="-120"/>
              </a:rPr>
              <a:t>99.9%+ uptime with automatic failover and redundancy built into the infrastructure</a:t>
            </a:r>
            <a:endParaRPr lang="en-US" sz="1350" dirty="0"/>
          </a:p>
        </p:txBody>
      </p:sp>
      <p:pic>
        <p:nvPicPr>
          <p:cNvPr id="15"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02974" y="6251496"/>
            <a:ext cx="263485" cy="263485"/>
          </a:xfrm>
          <a:prstGeom prst="rect">
            <a:avLst/>
          </a:prstGeom>
        </p:spPr>
      </p:pic>
      <p:sp>
        <p:nvSpPr>
          <p:cNvPr id="16" name="Text 11"/>
          <p:cNvSpPr/>
          <p:nvPr/>
        </p:nvSpPr>
        <p:spPr>
          <a:xfrm>
            <a:off x="8108037" y="6246138"/>
            <a:ext cx="2196227" cy="274558"/>
          </a:xfrm>
          <a:prstGeom prst="rect">
            <a:avLst/>
          </a:prstGeom>
          <a:noFill/>
          <a:ln/>
        </p:spPr>
        <p:txBody>
          <a:bodyPr wrap="none" lIns="0" tIns="0" rIns="0" bIns="0" rtlCol="0" anchor="t"/>
          <a:lstStyle/>
          <a:p>
            <a:pPr marL="0" indent="0" algn="l">
              <a:lnSpc>
                <a:spcPts val="2150"/>
              </a:lnSpc>
              <a:buNone/>
            </a:pPr>
            <a:r>
              <a:rPr lang="en-US" sz="1700" dirty="0">
                <a:solidFill>
                  <a:srgbClr val="D6E5EF"/>
                </a:solidFill>
                <a:latin typeface="Roboto Slab" pitchFamily="34" charset="0"/>
                <a:ea typeface="Roboto Slab" pitchFamily="34" charset="-122"/>
                <a:cs typeface="Roboto Slab" pitchFamily="34" charset="-120"/>
              </a:rPr>
              <a:t>Scalable</a:t>
            </a:r>
            <a:endParaRPr lang="en-US" sz="1700" dirty="0"/>
          </a:p>
        </p:txBody>
      </p:sp>
      <p:sp>
        <p:nvSpPr>
          <p:cNvPr id="17" name="Text 12"/>
          <p:cNvSpPr/>
          <p:nvPr/>
        </p:nvSpPr>
        <p:spPr>
          <a:xfrm>
            <a:off x="8108037" y="6676192"/>
            <a:ext cx="5827276" cy="530066"/>
          </a:xfrm>
          <a:prstGeom prst="rect">
            <a:avLst/>
          </a:prstGeom>
          <a:noFill/>
          <a:ln/>
        </p:spPr>
        <p:txBody>
          <a:bodyPr wrap="square" lIns="0" tIns="0" rIns="0" bIns="0" rtlCol="0" anchor="t"/>
          <a:lstStyle/>
          <a:p>
            <a:pPr marL="0" indent="0" algn="l">
              <a:lnSpc>
                <a:spcPts val="2050"/>
              </a:lnSpc>
              <a:buNone/>
            </a:pPr>
            <a:r>
              <a:rPr lang="en-US" sz="1350" dirty="0">
                <a:solidFill>
                  <a:srgbClr val="D6E5EF"/>
                </a:solidFill>
                <a:latin typeface="Roboto" pitchFamily="34" charset="0"/>
                <a:ea typeface="Roboto" pitchFamily="34" charset="-122"/>
                <a:cs typeface="Roboto" pitchFamily="34" charset="-120"/>
              </a:rPr>
              <a:t>Capable of handling thousands of concurrent registrations without manual intervention</a:t>
            </a:r>
            <a:endParaRPr lang="en-US" sz="1350" dirty="0"/>
          </a:p>
        </p:txBody>
      </p:sp>
      <p:sp>
        <p:nvSpPr>
          <p:cNvPr id="18" name="Rectangle 17">
            <a:extLst>
              <a:ext uri="{FF2B5EF4-FFF2-40B4-BE49-F238E27FC236}">
                <a16:creationId xmlns:a16="http://schemas.microsoft.com/office/drawing/2014/main" id="{4968D7EB-F748-B844-CD79-AE63CBDDA465}"/>
              </a:ext>
            </a:extLst>
          </p:cNvPr>
          <p:cNvSpPr/>
          <p:nvPr/>
        </p:nvSpPr>
        <p:spPr>
          <a:xfrm>
            <a:off x="12734925" y="7715250"/>
            <a:ext cx="1828800" cy="428625"/>
          </a:xfrm>
          <a:prstGeom prst="rect">
            <a:avLst/>
          </a:prstGeom>
          <a:solidFill>
            <a:srgbClr val="2027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83206" y="833438"/>
            <a:ext cx="4736663" cy="509707"/>
          </a:xfrm>
          <a:prstGeom prst="rect">
            <a:avLst/>
          </a:prstGeom>
          <a:noFill/>
          <a:ln/>
        </p:spPr>
        <p:txBody>
          <a:bodyPr wrap="none" lIns="0" tIns="0" rIns="0" bIns="0" rtlCol="0" anchor="t"/>
          <a:lstStyle/>
          <a:p>
            <a:pPr marL="0" indent="0" algn="l">
              <a:lnSpc>
                <a:spcPts val="4000"/>
              </a:lnSpc>
              <a:buNone/>
            </a:pPr>
            <a:r>
              <a:rPr lang="en-US" sz="3200" dirty="0">
                <a:solidFill>
                  <a:srgbClr val="76B9FF"/>
                </a:solidFill>
                <a:latin typeface="Roboto Slab" pitchFamily="34" charset="0"/>
                <a:ea typeface="Roboto Slab" pitchFamily="34" charset="-122"/>
                <a:cs typeface="Roboto Slab" pitchFamily="34" charset="-120"/>
              </a:rPr>
              <a:t>Cloud Solution Overview</a:t>
            </a:r>
            <a:endParaRPr lang="en-US" sz="3200" dirty="0"/>
          </a:p>
        </p:txBody>
      </p:sp>
      <p:sp>
        <p:nvSpPr>
          <p:cNvPr id="3" name="Text 1"/>
          <p:cNvSpPr/>
          <p:nvPr/>
        </p:nvSpPr>
        <p:spPr>
          <a:xfrm>
            <a:off x="883206" y="1611273"/>
            <a:ext cx="12863870" cy="712946"/>
          </a:xfrm>
          <a:prstGeom prst="rect">
            <a:avLst/>
          </a:prstGeom>
          <a:noFill/>
          <a:ln/>
        </p:spPr>
        <p:txBody>
          <a:bodyPr wrap="square" lIns="0" tIns="0" rIns="0" bIns="0" rtlCol="0" anchor="t"/>
          <a:lstStyle/>
          <a:p>
            <a:pPr marL="0" indent="0" algn="l">
              <a:lnSpc>
                <a:spcPts val="1850"/>
              </a:lnSpc>
              <a:buNone/>
            </a:pPr>
            <a:r>
              <a:rPr lang="en-US" sz="1250" dirty="0">
                <a:solidFill>
                  <a:srgbClr val="D6E5EF"/>
                </a:solidFill>
                <a:latin typeface="Roboto" pitchFamily="34" charset="0"/>
                <a:ea typeface="Roboto" pitchFamily="34" charset="-122"/>
                <a:cs typeface="Roboto" pitchFamily="34" charset="-120"/>
              </a:rPr>
              <a:t>The University Event Registration System is architected entirely on </a:t>
            </a:r>
            <a:r>
              <a:rPr lang="en-US" sz="1250" b="1" dirty="0">
                <a:solidFill>
                  <a:srgbClr val="D6E5EF"/>
                </a:solidFill>
                <a:latin typeface="Roboto" pitchFamily="34" charset="0"/>
                <a:ea typeface="Roboto" pitchFamily="34" charset="-122"/>
                <a:cs typeface="Roboto" pitchFamily="34" charset="-120"/>
              </a:rPr>
              <a:t>Google Cloud Platform</a:t>
            </a:r>
            <a:r>
              <a:rPr lang="en-US" sz="1250" dirty="0">
                <a:solidFill>
                  <a:srgbClr val="D6E5EF"/>
                </a:solidFill>
                <a:latin typeface="Roboto" pitchFamily="34" charset="0"/>
                <a:ea typeface="Roboto" pitchFamily="34" charset="-122"/>
                <a:cs typeface="Roboto" pitchFamily="34" charset="-120"/>
              </a:rPr>
              <a:t>, leveraging a serverless, fully managed stack. This eliminates manual server provisioning, reduces operational overhead, and enables teams to focus on delivering features rather than managing infrastructure. The system spans all three cloud service models.</a:t>
            </a:r>
            <a:endParaRPr lang="en-US" sz="1250" dirty="0"/>
          </a:p>
        </p:txBody>
      </p:sp>
      <p:pic>
        <p:nvPicPr>
          <p:cNvPr id="4" name="Image 0" descr="preencoded.png"/>
          <p:cNvPicPr>
            <a:picLocks noChangeAspect="1"/>
          </p:cNvPicPr>
          <p:nvPr/>
        </p:nvPicPr>
        <p:blipFill>
          <a:blip r:embed="rId3"/>
          <a:stretch>
            <a:fillRect/>
          </a:stretch>
        </p:blipFill>
        <p:spPr>
          <a:xfrm>
            <a:off x="883206" y="2474952"/>
            <a:ext cx="2422208" cy="1496973"/>
          </a:xfrm>
          <a:prstGeom prst="rect">
            <a:avLst/>
          </a:prstGeom>
        </p:spPr>
      </p:pic>
      <p:sp>
        <p:nvSpPr>
          <p:cNvPr id="5" name="Text 2"/>
          <p:cNvSpPr/>
          <p:nvPr/>
        </p:nvSpPr>
        <p:spPr>
          <a:xfrm>
            <a:off x="883206" y="4139446"/>
            <a:ext cx="3617476" cy="254913"/>
          </a:xfrm>
          <a:prstGeom prst="rect">
            <a:avLst/>
          </a:prstGeom>
          <a:noFill/>
          <a:ln/>
        </p:spPr>
        <p:txBody>
          <a:bodyPr wrap="none" lIns="0" tIns="0" rIns="0" bIns="0" rtlCol="0" anchor="t"/>
          <a:lstStyle/>
          <a:p>
            <a:pPr marL="0" indent="0" algn="l">
              <a:lnSpc>
                <a:spcPts val="2000"/>
              </a:lnSpc>
              <a:buNone/>
            </a:pPr>
            <a:r>
              <a:rPr lang="en-US" sz="1600" dirty="0">
                <a:solidFill>
                  <a:srgbClr val="D6E5EF"/>
                </a:solidFill>
                <a:latin typeface="Roboto Slab" pitchFamily="34" charset="0"/>
                <a:ea typeface="Roboto Slab" pitchFamily="34" charset="-122"/>
                <a:cs typeface="Roboto Slab" pitchFamily="34" charset="-120"/>
              </a:rPr>
              <a:t>Frontend — Google App Engine (PaaS)</a:t>
            </a:r>
            <a:endParaRPr lang="en-US" sz="1600" dirty="0"/>
          </a:p>
        </p:txBody>
      </p:sp>
      <p:sp>
        <p:nvSpPr>
          <p:cNvPr id="6" name="Text 3"/>
          <p:cNvSpPr/>
          <p:nvPr/>
        </p:nvSpPr>
        <p:spPr>
          <a:xfrm>
            <a:off x="883206" y="4474726"/>
            <a:ext cx="4176236" cy="1901190"/>
          </a:xfrm>
          <a:prstGeom prst="rect">
            <a:avLst/>
          </a:prstGeom>
          <a:noFill/>
          <a:ln/>
        </p:spPr>
        <p:txBody>
          <a:bodyPr wrap="square" lIns="0" tIns="0" rIns="0" bIns="0" rtlCol="0" anchor="t"/>
          <a:lstStyle/>
          <a:p>
            <a:pPr marL="0" indent="0" algn="l">
              <a:lnSpc>
                <a:spcPts val="1850"/>
              </a:lnSpc>
              <a:buNone/>
            </a:pPr>
            <a:r>
              <a:rPr lang="en-US" sz="1250" dirty="0">
                <a:solidFill>
                  <a:srgbClr val="D6E5EF"/>
                </a:solidFill>
                <a:latin typeface="Roboto" pitchFamily="34" charset="0"/>
                <a:ea typeface="Roboto" pitchFamily="34" charset="-122"/>
                <a:cs typeface="Roboto" pitchFamily="34" charset="-120"/>
              </a:rPr>
              <a:t>The web application frontend is hosted on </a:t>
            </a:r>
            <a:r>
              <a:rPr lang="en-US" sz="1250" b="1" dirty="0">
                <a:solidFill>
                  <a:srgbClr val="D6E5EF"/>
                </a:solidFill>
                <a:latin typeface="Roboto" pitchFamily="34" charset="0"/>
                <a:ea typeface="Roboto" pitchFamily="34" charset="-122"/>
                <a:cs typeface="Roboto" pitchFamily="34" charset="-120"/>
              </a:rPr>
              <a:t>Google App Engine</a:t>
            </a:r>
            <a:r>
              <a:rPr lang="en-US" sz="1250" dirty="0">
                <a:solidFill>
                  <a:srgbClr val="D6E5EF"/>
                </a:solidFill>
                <a:latin typeface="Roboto" pitchFamily="34" charset="0"/>
                <a:ea typeface="Roboto" pitchFamily="34" charset="-122"/>
                <a:cs typeface="Roboto" pitchFamily="34" charset="-120"/>
              </a:rPr>
              <a:t>, a fully managed Platform-as-a-Service environment. App Engine handles HTTP routing, TLS termination, and auto-scaling automatically. Developers deploy code directly without configuring servers, OS patches, or load balancers. The frontend serves dynamic HTML/JS pages for the registration portal, event listings, and student dashboards.</a:t>
            </a:r>
            <a:endParaRPr lang="en-US" sz="1250" dirty="0"/>
          </a:p>
        </p:txBody>
      </p:sp>
      <p:pic>
        <p:nvPicPr>
          <p:cNvPr id="7" name="Image 1" descr="preencoded.png"/>
          <p:cNvPicPr>
            <a:picLocks noChangeAspect="1"/>
          </p:cNvPicPr>
          <p:nvPr/>
        </p:nvPicPr>
        <p:blipFill>
          <a:blip r:embed="rId4"/>
          <a:stretch>
            <a:fillRect/>
          </a:stretch>
        </p:blipFill>
        <p:spPr>
          <a:xfrm>
            <a:off x="5226963" y="2474952"/>
            <a:ext cx="2422208" cy="1496973"/>
          </a:xfrm>
          <a:prstGeom prst="rect">
            <a:avLst/>
          </a:prstGeom>
        </p:spPr>
      </p:pic>
      <p:sp>
        <p:nvSpPr>
          <p:cNvPr id="8" name="Text 4"/>
          <p:cNvSpPr/>
          <p:nvPr/>
        </p:nvSpPr>
        <p:spPr>
          <a:xfrm>
            <a:off x="5226963" y="4139446"/>
            <a:ext cx="4176236" cy="509826"/>
          </a:xfrm>
          <a:prstGeom prst="rect">
            <a:avLst/>
          </a:prstGeom>
          <a:noFill/>
          <a:ln/>
        </p:spPr>
        <p:txBody>
          <a:bodyPr wrap="square" lIns="0" tIns="0" rIns="0" bIns="0" rtlCol="0" anchor="t"/>
          <a:lstStyle/>
          <a:p>
            <a:pPr marL="0" indent="0" algn="l">
              <a:lnSpc>
                <a:spcPts val="2000"/>
              </a:lnSpc>
              <a:buNone/>
            </a:pPr>
            <a:r>
              <a:rPr lang="en-US" sz="1600" dirty="0">
                <a:solidFill>
                  <a:srgbClr val="D6E5EF"/>
                </a:solidFill>
                <a:latin typeface="Roboto Slab" pitchFamily="34" charset="0"/>
                <a:ea typeface="Roboto Slab" pitchFamily="34" charset="-122"/>
                <a:cs typeface="Roboto Slab" pitchFamily="34" charset="-120"/>
              </a:rPr>
              <a:t>Backend Logic — Cloud Functions (Serverless)</a:t>
            </a:r>
            <a:endParaRPr lang="en-US" sz="1600" dirty="0"/>
          </a:p>
        </p:txBody>
      </p:sp>
      <p:sp>
        <p:nvSpPr>
          <p:cNvPr id="9" name="Text 5"/>
          <p:cNvSpPr/>
          <p:nvPr/>
        </p:nvSpPr>
        <p:spPr>
          <a:xfrm>
            <a:off x="5226963" y="4729639"/>
            <a:ext cx="4176236" cy="1663541"/>
          </a:xfrm>
          <a:prstGeom prst="rect">
            <a:avLst/>
          </a:prstGeom>
          <a:noFill/>
          <a:ln/>
        </p:spPr>
        <p:txBody>
          <a:bodyPr wrap="square" lIns="0" tIns="0" rIns="0" bIns="0" rtlCol="0" anchor="t"/>
          <a:lstStyle/>
          <a:p>
            <a:pPr marL="0" indent="0" algn="l">
              <a:lnSpc>
                <a:spcPts val="1850"/>
              </a:lnSpc>
              <a:buNone/>
            </a:pPr>
            <a:r>
              <a:rPr lang="en-US" sz="1250" b="1" dirty="0">
                <a:solidFill>
                  <a:srgbClr val="D6E5EF"/>
                </a:solidFill>
                <a:latin typeface="Roboto" pitchFamily="34" charset="0"/>
                <a:ea typeface="Roboto" pitchFamily="34" charset="-122"/>
                <a:cs typeface="Roboto" pitchFamily="34" charset="-120"/>
              </a:rPr>
              <a:t>Google Cloud Functions</a:t>
            </a:r>
            <a:r>
              <a:rPr lang="en-US" sz="1250" dirty="0">
                <a:solidFill>
                  <a:srgbClr val="D6E5EF"/>
                </a:solidFill>
                <a:latin typeface="Roboto" pitchFamily="34" charset="0"/>
                <a:ea typeface="Roboto" pitchFamily="34" charset="-122"/>
                <a:cs typeface="Roboto" pitchFamily="34" charset="-120"/>
              </a:rPr>
              <a:t> power all backend business logic — from processing registration requests and validating student credentials to sending confirmation responses. Each function is triggered on demand (HTTP or event-based), scales to zero when idle, and scales horizontally during traffic spikes. This event-driven model ensures cost-efficiency and zero idle compute cost.</a:t>
            </a:r>
            <a:endParaRPr lang="en-US" sz="1250" dirty="0"/>
          </a:p>
        </p:txBody>
      </p:sp>
      <p:pic>
        <p:nvPicPr>
          <p:cNvPr id="10" name="Image 2" descr="preencoded.png"/>
          <p:cNvPicPr>
            <a:picLocks noChangeAspect="1"/>
          </p:cNvPicPr>
          <p:nvPr/>
        </p:nvPicPr>
        <p:blipFill>
          <a:blip r:embed="rId5"/>
          <a:stretch>
            <a:fillRect/>
          </a:stretch>
        </p:blipFill>
        <p:spPr>
          <a:xfrm>
            <a:off x="9570720" y="2474952"/>
            <a:ext cx="2422208" cy="1496973"/>
          </a:xfrm>
          <a:prstGeom prst="rect">
            <a:avLst/>
          </a:prstGeom>
        </p:spPr>
      </p:pic>
      <p:sp>
        <p:nvSpPr>
          <p:cNvPr id="11" name="Text 6"/>
          <p:cNvSpPr/>
          <p:nvPr/>
        </p:nvSpPr>
        <p:spPr>
          <a:xfrm>
            <a:off x="9570720" y="4139446"/>
            <a:ext cx="4176355" cy="509826"/>
          </a:xfrm>
          <a:prstGeom prst="rect">
            <a:avLst/>
          </a:prstGeom>
          <a:noFill/>
          <a:ln/>
        </p:spPr>
        <p:txBody>
          <a:bodyPr wrap="square" lIns="0" tIns="0" rIns="0" bIns="0" rtlCol="0" anchor="t"/>
          <a:lstStyle/>
          <a:p>
            <a:pPr marL="0" indent="0" algn="l">
              <a:lnSpc>
                <a:spcPts val="2000"/>
              </a:lnSpc>
              <a:buNone/>
            </a:pPr>
            <a:r>
              <a:rPr lang="en-US" sz="1600" dirty="0">
                <a:solidFill>
                  <a:srgbClr val="D6E5EF"/>
                </a:solidFill>
                <a:latin typeface="Roboto Slab" pitchFamily="34" charset="0"/>
                <a:ea typeface="Roboto Slab" pitchFamily="34" charset="-122"/>
                <a:cs typeface="Roboto Slab" pitchFamily="34" charset="-120"/>
              </a:rPr>
              <a:t>Database — Cloud SQL (Managed Relational DB)</a:t>
            </a:r>
            <a:endParaRPr lang="en-US" sz="1600" dirty="0"/>
          </a:p>
        </p:txBody>
      </p:sp>
      <p:sp>
        <p:nvSpPr>
          <p:cNvPr id="12" name="Text 7"/>
          <p:cNvSpPr/>
          <p:nvPr/>
        </p:nvSpPr>
        <p:spPr>
          <a:xfrm>
            <a:off x="9570720" y="4729639"/>
            <a:ext cx="4176355" cy="1663541"/>
          </a:xfrm>
          <a:prstGeom prst="rect">
            <a:avLst/>
          </a:prstGeom>
          <a:noFill/>
          <a:ln/>
        </p:spPr>
        <p:txBody>
          <a:bodyPr wrap="square" lIns="0" tIns="0" rIns="0" bIns="0" rtlCol="0" anchor="t"/>
          <a:lstStyle/>
          <a:p>
            <a:pPr marL="0" indent="0" algn="l">
              <a:lnSpc>
                <a:spcPts val="1850"/>
              </a:lnSpc>
              <a:buNone/>
            </a:pPr>
            <a:r>
              <a:rPr lang="en-US" sz="1250" b="1" dirty="0">
                <a:solidFill>
                  <a:srgbClr val="D6E5EF"/>
                </a:solidFill>
                <a:latin typeface="Roboto" pitchFamily="34" charset="0"/>
                <a:ea typeface="Roboto" pitchFamily="34" charset="-122"/>
                <a:cs typeface="Roboto" pitchFamily="34" charset="-120"/>
              </a:rPr>
              <a:t>Cloud SQL</a:t>
            </a:r>
            <a:r>
              <a:rPr lang="en-US" sz="1250" dirty="0">
                <a:solidFill>
                  <a:srgbClr val="D6E5EF"/>
                </a:solidFill>
                <a:latin typeface="Roboto" pitchFamily="34" charset="0"/>
                <a:ea typeface="Roboto" pitchFamily="34" charset="-122"/>
                <a:cs typeface="Roboto" pitchFamily="34" charset="-120"/>
              </a:rPr>
              <a:t> provides a fully managed PostgreSQL or MySQL database instance for persisting structured data — student profiles, event records, registrations, and capacity metadata. Google handles backups, patching, replication, and failover automatically. Cloud SQL supports ACID transactions, ensuring data integrity even during concurrent registration surges.</a:t>
            </a:r>
            <a:endParaRPr lang="en-US" sz="1250" dirty="0"/>
          </a:p>
        </p:txBody>
      </p:sp>
      <p:sp>
        <p:nvSpPr>
          <p:cNvPr id="13" name="Shape 8"/>
          <p:cNvSpPr/>
          <p:nvPr/>
        </p:nvSpPr>
        <p:spPr>
          <a:xfrm>
            <a:off x="883206" y="6543913"/>
            <a:ext cx="12863870" cy="852249"/>
          </a:xfrm>
          <a:prstGeom prst="roundRect">
            <a:avLst>
              <a:gd name="adj" fmla="val 2871"/>
            </a:avLst>
          </a:prstGeom>
          <a:solidFill>
            <a:srgbClr val="082545"/>
          </a:solidFill>
          <a:ln/>
        </p:spPr>
      </p:sp>
      <p:pic>
        <p:nvPicPr>
          <p:cNvPr id="14" name="Image 3" descr="preencoded.png"/>
          <p:cNvPicPr>
            <a:picLocks noChangeAspect="1"/>
          </p:cNvPicPr>
          <p:nvPr/>
        </p:nvPicPr>
        <p:blipFill>
          <a:blip r:embed="rId6"/>
          <a:stretch>
            <a:fillRect/>
          </a:stretch>
        </p:blipFill>
        <p:spPr>
          <a:xfrm>
            <a:off x="1046321" y="6780252"/>
            <a:ext cx="203835" cy="163116"/>
          </a:xfrm>
          <a:prstGeom prst="rect">
            <a:avLst/>
          </a:prstGeom>
        </p:spPr>
      </p:pic>
      <p:sp>
        <p:nvSpPr>
          <p:cNvPr id="15" name="Text 9"/>
          <p:cNvSpPr/>
          <p:nvPr/>
        </p:nvSpPr>
        <p:spPr>
          <a:xfrm>
            <a:off x="1413272" y="6718697"/>
            <a:ext cx="12170688" cy="475298"/>
          </a:xfrm>
          <a:prstGeom prst="rect">
            <a:avLst/>
          </a:prstGeom>
          <a:noFill/>
          <a:ln/>
        </p:spPr>
        <p:txBody>
          <a:bodyPr wrap="square" lIns="0" tIns="0" rIns="0" bIns="0" rtlCol="0" anchor="t"/>
          <a:lstStyle/>
          <a:p>
            <a:pPr marL="0" indent="0" algn="l">
              <a:lnSpc>
                <a:spcPts val="1850"/>
              </a:lnSpc>
              <a:buNone/>
            </a:pPr>
            <a:r>
              <a:rPr lang="en-US" sz="1250" dirty="0">
                <a:solidFill>
                  <a:srgbClr val="FFFFFF"/>
                </a:solidFill>
                <a:latin typeface="Roboto" pitchFamily="34" charset="0"/>
                <a:ea typeface="Roboto" pitchFamily="34" charset="-122"/>
                <a:cs typeface="Roboto" pitchFamily="34" charset="-120"/>
              </a:rPr>
              <a:t>The system is entirely </a:t>
            </a:r>
            <a:r>
              <a:rPr lang="en-US" sz="1250" b="1" dirty="0">
                <a:solidFill>
                  <a:srgbClr val="FFFFFF"/>
                </a:solidFill>
                <a:latin typeface="Roboto" pitchFamily="34" charset="0"/>
                <a:ea typeface="Roboto" pitchFamily="34" charset="-122"/>
                <a:cs typeface="Roboto" pitchFamily="34" charset="-120"/>
              </a:rPr>
              <a:t>serverless</a:t>
            </a:r>
            <a:r>
              <a:rPr lang="en-US" sz="1250" dirty="0">
                <a:solidFill>
                  <a:srgbClr val="FFFFFF"/>
                </a:solidFill>
                <a:latin typeface="Roboto" pitchFamily="34" charset="0"/>
                <a:ea typeface="Roboto" pitchFamily="34" charset="-122"/>
                <a:cs typeface="Roboto" pitchFamily="34" charset="-120"/>
              </a:rPr>
              <a:t> — no virtual machines to provision, no OS to maintain. Google Cloud manages all underlying infrastructure, letting the development team focus on application logic and user experience.</a:t>
            </a:r>
            <a:endParaRPr lang="en-US" sz="1250" dirty="0"/>
          </a:p>
        </p:txBody>
      </p:sp>
      <p:sp>
        <p:nvSpPr>
          <p:cNvPr id="16" name="Rectangle 15">
            <a:extLst>
              <a:ext uri="{FF2B5EF4-FFF2-40B4-BE49-F238E27FC236}">
                <a16:creationId xmlns:a16="http://schemas.microsoft.com/office/drawing/2014/main" id="{D5D21F8F-6FBB-5110-D0BD-13F59200ACBE}"/>
              </a:ext>
            </a:extLst>
          </p:cNvPr>
          <p:cNvSpPr/>
          <p:nvPr/>
        </p:nvSpPr>
        <p:spPr>
          <a:xfrm>
            <a:off x="12706350" y="7686675"/>
            <a:ext cx="1847850" cy="438150"/>
          </a:xfrm>
          <a:prstGeom prst="rect">
            <a:avLst/>
          </a:prstGeom>
          <a:solidFill>
            <a:srgbClr val="2027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3402449" y="507444"/>
            <a:ext cx="3226951" cy="310158"/>
          </a:xfrm>
          <a:prstGeom prst="rect">
            <a:avLst/>
          </a:prstGeom>
          <a:noFill/>
          <a:ln/>
        </p:spPr>
        <p:txBody>
          <a:bodyPr wrap="none" lIns="0" tIns="0" rIns="0" bIns="0" rtlCol="0" anchor="t"/>
          <a:lstStyle/>
          <a:p>
            <a:pPr marL="0" indent="0" algn="l">
              <a:lnSpc>
                <a:spcPts val="2400"/>
              </a:lnSpc>
              <a:buNone/>
            </a:pPr>
            <a:r>
              <a:rPr lang="en-US" sz="1950" dirty="0">
                <a:solidFill>
                  <a:srgbClr val="76B9FF"/>
                </a:solidFill>
                <a:latin typeface="Roboto Slab" pitchFamily="34" charset="0"/>
                <a:ea typeface="Roboto Slab" pitchFamily="34" charset="-122"/>
                <a:cs typeface="Roboto Slab" pitchFamily="34" charset="-120"/>
              </a:rPr>
              <a:t>Architecture &amp; Components</a:t>
            </a:r>
            <a:endParaRPr lang="en-US" sz="1950" dirty="0"/>
          </a:p>
        </p:txBody>
      </p:sp>
      <p:sp>
        <p:nvSpPr>
          <p:cNvPr id="3" name="Text 1"/>
          <p:cNvSpPr/>
          <p:nvPr/>
        </p:nvSpPr>
        <p:spPr>
          <a:xfrm>
            <a:off x="3402449" y="916781"/>
            <a:ext cx="7825502" cy="237887"/>
          </a:xfrm>
          <a:prstGeom prst="rect">
            <a:avLst/>
          </a:prstGeom>
          <a:noFill/>
          <a:ln/>
        </p:spPr>
        <p:txBody>
          <a:bodyPr wrap="square" lIns="0" tIns="0" rIns="0" bIns="0" rtlCol="0" anchor="t"/>
          <a:lstStyle/>
          <a:p>
            <a:pPr marL="0" indent="0" algn="l">
              <a:lnSpc>
                <a:spcPts val="900"/>
              </a:lnSpc>
              <a:buNone/>
            </a:pPr>
            <a:r>
              <a:rPr lang="en-US" sz="750" dirty="0">
                <a:solidFill>
                  <a:srgbClr val="D6E5EF"/>
                </a:solidFill>
                <a:latin typeface="Roboto" pitchFamily="34" charset="0"/>
                <a:ea typeface="Roboto" pitchFamily="34" charset="-122"/>
                <a:cs typeface="Roboto" pitchFamily="34" charset="-120"/>
              </a:rPr>
              <a:t>The system follows a </a:t>
            </a:r>
            <a:r>
              <a:rPr lang="en-US" sz="750" b="1" dirty="0">
                <a:solidFill>
                  <a:srgbClr val="D6E5EF"/>
                </a:solidFill>
                <a:latin typeface="Roboto" pitchFamily="34" charset="0"/>
                <a:ea typeface="Roboto" pitchFamily="34" charset="-122"/>
                <a:cs typeface="Roboto" pitchFamily="34" charset="-120"/>
              </a:rPr>
              <a:t>loosely coupled, event-driven architecture</a:t>
            </a:r>
            <a:r>
              <a:rPr lang="en-US" sz="750" dirty="0">
                <a:solidFill>
                  <a:srgbClr val="D6E5EF"/>
                </a:solidFill>
                <a:latin typeface="Roboto" pitchFamily="34" charset="0"/>
                <a:ea typeface="Roboto" pitchFamily="34" charset="-122"/>
                <a:cs typeface="Roboto" pitchFamily="34" charset="-120"/>
              </a:rPr>
              <a:t> — each component is independently deployable, scalable, and replaceable. Traffic flows through a DNS resolver and Cloud Load Balancer before reaching App Engine, ensuring high availability and geographic redundancy.</a:t>
            </a:r>
            <a:endParaRPr lang="en-US" sz="750" dirty="0"/>
          </a:p>
        </p:txBody>
      </p:sp>
      <p:pic>
        <p:nvPicPr>
          <p:cNvPr id="4" name="Image 0" descr="preencoded.png"/>
          <p:cNvPicPr>
            <a:picLocks noChangeAspect="1"/>
          </p:cNvPicPr>
          <p:nvPr/>
        </p:nvPicPr>
        <p:blipFill>
          <a:blip r:embed="rId3"/>
          <a:stretch>
            <a:fillRect/>
          </a:stretch>
        </p:blipFill>
        <p:spPr>
          <a:xfrm>
            <a:off x="3402449" y="1210389"/>
            <a:ext cx="7825502" cy="3581281"/>
          </a:xfrm>
          <a:prstGeom prst="rect">
            <a:avLst/>
          </a:prstGeom>
        </p:spPr>
      </p:pic>
      <p:sp>
        <p:nvSpPr>
          <p:cNvPr id="5" name="Text 2"/>
          <p:cNvSpPr/>
          <p:nvPr/>
        </p:nvSpPr>
        <p:spPr>
          <a:xfrm>
            <a:off x="9134650" y="1707572"/>
            <a:ext cx="1731070" cy="216384"/>
          </a:xfrm>
          <a:prstGeom prst="rect">
            <a:avLst/>
          </a:prstGeom>
          <a:noFill/>
          <a:ln/>
        </p:spPr>
        <p:txBody>
          <a:bodyPr wrap="none" lIns="0" tIns="0" rIns="0" bIns="0" rtlCol="0" anchor="t"/>
          <a:lstStyle/>
          <a:p>
            <a:pPr marL="0" indent="0" algn="l">
              <a:lnSpc>
                <a:spcPts val="1700"/>
              </a:lnSpc>
              <a:buNone/>
            </a:pPr>
            <a:r>
              <a:rPr lang="en-US" sz="1350" dirty="0">
                <a:solidFill>
                  <a:srgbClr val="D6E5EF"/>
                </a:solidFill>
                <a:latin typeface="Roboto Slab" pitchFamily="34" charset="0"/>
                <a:ea typeface="Roboto Slab" pitchFamily="34" charset="-122"/>
                <a:cs typeface="Roboto Slab" pitchFamily="34" charset="-120"/>
              </a:rPr>
              <a:t>Application Layer</a:t>
            </a:r>
            <a:endParaRPr lang="en-US" sz="1350" dirty="0"/>
          </a:p>
        </p:txBody>
      </p:sp>
      <p:sp>
        <p:nvSpPr>
          <p:cNvPr id="6" name="Text 3"/>
          <p:cNvSpPr/>
          <p:nvPr/>
        </p:nvSpPr>
        <p:spPr>
          <a:xfrm>
            <a:off x="9134650" y="1985505"/>
            <a:ext cx="1908024" cy="259661"/>
          </a:xfrm>
          <a:prstGeom prst="rect">
            <a:avLst/>
          </a:prstGeom>
          <a:noFill/>
          <a:ln/>
        </p:spPr>
        <p:txBody>
          <a:bodyPr wrap="square" lIns="0" tIns="0" rIns="0" bIns="0" rtlCol="0" anchor="t"/>
          <a:lstStyle/>
          <a:p>
            <a:pPr marL="0" indent="0" algn="l">
              <a:lnSpc>
                <a:spcPts val="1000"/>
              </a:lnSpc>
              <a:buNone/>
            </a:pPr>
            <a:r>
              <a:rPr lang="en-US" sz="1050" dirty="0">
                <a:solidFill>
                  <a:srgbClr val="D6E5EF"/>
                </a:solidFill>
                <a:latin typeface="Roboto" pitchFamily="34" charset="0"/>
                <a:ea typeface="Roboto" pitchFamily="34" charset="-122"/>
                <a:cs typeface="Roboto" pitchFamily="34" charset="-120"/>
              </a:rPr>
              <a:t>App Engine, Cloud Functions, load balancing</a:t>
            </a:r>
            <a:endParaRPr lang="en-US" sz="1050" dirty="0"/>
          </a:p>
        </p:txBody>
      </p:sp>
      <p:sp>
        <p:nvSpPr>
          <p:cNvPr id="7" name="Text 4"/>
          <p:cNvSpPr/>
          <p:nvPr/>
        </p:nvSpPr>
        <p:spPr>
          <a:xfrm>
            <a:off x="3610611" y="2884700"/>
            <a:ext cx="1731070" cy="216384"/>
          </a:xfrm>
          <a:prstGeom prst="rect">
            <a:avLst/>
          </a:prstGeom>
          <a:noFill/>
          <a:ln/>
        </p:spPr>
        <p:txBody>
          <a:bodyPr wrap="none" lIns="0" tIns="0" rIns="0" bIns="0" rtlCol="0" anchor="t"/>
          <a:lstStyle/>
          <a:p>
            <a:pPr marL="0" indent="0" algn="r">
              <a:lnSpc>
                <a:spcPts val="1700"/>
              </a:lnSpc>
              <a:buNone/>
            </a:pPr>
            <a:r>
              <a:rPr lang="en-US" sz="1350" dirty="0">
                <a:solidFill>
                  <a:srgbClr val="D6E5EF"/>
                </a:solidFill>
                <a:latin typeface="Roboto Slab" pitchFamily="34" charset="0"/>
                <a:ea typeface="Roboto Slab" pitchFamily="34" charset="-122"/>
                <a:cs typeface="Roboto Slab" pitchFamily="34" charset="-120"/>
              </a:rPr>
              <a:t>Data Layer</a:t>
            </a:r>
            <a:endParaRPr lang="en-US" sz="1350" dirty="0"/>
          </a:p>
        </p:txBody>
      </p:sp>
      <p:sp>
        <p:nvSpPr>
          <p:cNvPr id="8" name="Text 5"/>
          <p:cNvSpPr/>
          <p:nvPr/>
        </p:nvSpPr>
        <p:spPr>
          <a:xfrm>
            <a:off x="3587531" y="3162633"/>
            <a:ext cx="1754151" cy="259660"/>
          </a:xfrm>
          <a:prstGeom prst="rect">
            <a:avLst/>
          </a:prstGeom>
          <a:noFill/>
          <a:ln/>
        </p:spPr>
        <p:txBody>
          <a:bodyPr wrap="square" lIns="0" tIns="0" rIns="0" bIns="0" rtlCol="0" anchor="t"/>
          <a:lstStyle/>
          <a:p>
            <a:pPr marL="0" indent="0" algn="r">
              <a:lnSpc>
                <a:spcPts val="1000"/>
              </a:lnSpc>
              <a:buNone/>
            </a:pPr>
            <a:r>
              <a:rPr lang="en-US" sz="1050" dirty="0">
                <a:solidFill>
                  <a:srgbClr val="D6E5EF"/>
                </a:solidFill>
                <a:latin typeface="Roboto" pitchFamily="34" charset="0"/>
                <a:ea typeface="Roboto" pitchFamily="34" charset="-122"/>
                <a:cs typeface="Roboto" pitchFamily="34" charset="-120"/>
              </a:rPr>
              <a:t>Cloud SQL structured storage</a:t>
            </a:r>
            <a:endParaRPr lang="en-US" sz="1050" dirty="0"/>
          </a:p>
        </p:txBody>
      </p:sp>
      <p:sp>
        <p:nvSpPr>
          <p:cNvPr id="9" name="Text 6"/>
          <p:cNvSpPr/>
          <p:nvPr/>
        </p:nvSpPr>
        <p:spPr>
          <a:xfrm>
            <a:off x="9134650" y="3557413"/>
            <a:ext cx="1731070" cy="216384"/>
          </a:xfrm>
          <a:prstGeom prst="rect">
            <a:avLst/>
          </a:prstGeom>
          <a:noFill/>
          <a:ln/>
        </p:spPr>
        <p:txBody>
          <a:bodyPr wrap="none" lIns="0" tIns="0" rIns="0" bIns="0" rtlCol="0" anchor="t"/>
          <a:lstStyle/>
          <a:p>
            <a:pPr marL="0" indent="0" algn="l">
              <a:lnSpc>
                <a:spcPts val="1700"/>
              </a:lnSpc>
              <a:buNone/>
            </a:pPr>
            <a:r>
              <a:rPr lang="en-US" sz="1350" dirty="0">
                <a:solidFill>
                  <a:srgbClr val="D6E5EF"/>
                </a:solidFill>
                <a:latin typeface="Roboto Slab" pitchFamily="34" charset="0"/>
                <a:ea typeface="Roboto Slab" pitchFamily="34" charset="-122"/>
                <a:cs typeface="Roboto Slab" pitchFamily="34" charset="-120"/>
              </a:rPr>
              <a:t>Core IAM</a:t>
            </a:r>
            <a:endParaRPr lang="en-US" sz="1350" dirty="0"/>
          </a:p>
        </p:txBody>
      </p:sp>
      <p:sp>
        <p:nvSpPr>
          <p:cNvPr id="10" name="Text 7"/>
          <p:cNvSpPr/>
          <p:nvPr/>
        </p:nvSpPr>
        <p:spPr>
          <a:xfrm>
            <a:off x="9134650" y="3835346"/>
            <a:ext cx="1908024" cy="129830"/>
          </a:xfrm>
          <a:prstGeom prst="rect">
            <a:avLst/>
          </a:prstGeom>
          <a:noFill/>
          <a:ln/>
        </p:spPr>
        <p:txBody>
          <a:bodyPr wrap="none" lIns="0" tIns="0" rIns="0" bIns="0" rtlCol="0" anchor="t"/>
          <a:lstStyle/>
          <a:p>
            <a:pPr marL="0" indent="0" algn="l">
              <a:lnSpc>
                <a:spcPts val="1000"/>
              </a:lnSpc>
              <a:buNone/>
            </a:pPr>
            <a:r>
              <a:rPr lang="en-US" sz="1050" dirty="0">
                <a:solidFill>
                  <a:srgbClr val="D6E5EF"/>
                </a:solidFill>
                <a:latin typeface="Roboto" pitchFamily="34" charset="0"/>
                <a:ea typeface="Roboto" pitchFamily="34" charset="-122"/>
                <a:cs typeface="Roboto" pitchFamily="34" charset="-120"/>
              </a:rPr>
              <a:t>Security and access control</a:t>
            </a:r>
            <a:endParaRPr lang="en-US" sz="1050" dirty="0"/>
          </a:p>
        </p:txBody>
      </p:sp>
      <p:sp>
        <p:nvSpPr>
          <p:cNvPr id="11" name="Text 8"/>
          <p:cNvSpPr/>
          <p:nvPr/>
        </p:nvSpPr>
        <p:spPr>
          <a:xfrm>
            <a:off x="3402449" y="4847392"/>
            <a:ext cx="7825502" cy="594717"/>
          </a:xfrm>
          <a:prstGeom prst="rect">
            <a:avLst/>
          </a:prstGeom>
          <a:noFill/>
          <a:ln/>
        </p:spPr>
        <p:txBody>
          <a:bodyPr wrap="square" lIns="0" tIns="0" rIns="0" bIns="0" rtlCol="0" anchor="t"/>
          <a:lstStyle/>
          <a:p>
            <a:pPr marL="0" indent="0" algn="l">
              <a:lnSpc>
                <a:spcPts val="900"/>
              </a:lnSpc>
              <a:buNone/>
            </a:pPr>
            <a:r>
              <a:rPr lang="en-US" sz="750" dirty="0">
                <a:solidFill>
                  <a:srgbClr val="D6E5EF"/>
                </a:solidFill>
                <a:latin typeface="Roboto" pitchFamily="34" charset="0"/>
                <a:ea typeface="Roboto" pitchFamily="34" charset="-122"/>
                <a:cs typeface="Roboto" pitchFamily="34" charset="-120"/>
              </a:rPr>
              <a:t>Each layer in this architecture has a clearly defined responsibility. The </a:t>
            </a:r>
            <a:r>
              <a:rPr lang="en-US" sz="750" b="1" dirty="0">
                <a:solidFill>
                  <a:srgbClr val="D6E5EF"/>
                </a:solidFill>
                <a:latin typeface="Roboto" pitchFamily="34" charset="0"/>
                <a:ea typeface="Roboto" pitchFamily="34" charset="-122"/>
                <a:cs typeface="Roboto" pitchFamily="34" charset="-120"/>
              </a:rPr>
              <a:t>Load Balancer</a:t>
            </a:r>
            <a:r>
              <a:rPr lang="en-US" sz="750" dirty="0">
                <a:solidFill>
                  <a:srgbClr val="D6E5EF"/>
                </a:solidFill>
                <a:latin typeface="Roboto" pitchFamily="34" charset="0"/>
                <a:ea typeface="Roboto" pitchFamily="34" charset="-122"/>
                <a:cs typeface="Roboto" pitchFamily="34" charset="-120"/>
              </a:rPr>
              <a:t> distributes incoming HTTP/S traffic across App Engine instances based on load. </a:t>
            </a:r>
            <a:r>
              <a:rPr lang="en-US" sz="750" b="1" dirty="0">
                <a:solidFill>
                  <a:srgbClr val="D6E5EF"/>
                </a:solidFill>
                <a:latin typeface="Roboto" pitchFamily="34" charset="0"/>
                <a:ea typeface="Roboto" pitchFamily="34" charset="-122"/>
                <a:cs typeface="Roboto" pitchFamily="34" charset="-120"/>
              </a:rPr>
              <a:t>App Engine</a:t>
            </a:r>
            <a:r>
              <a:rPr lang="en-US" sz="750" dirty="0">
                <a:solidFill>
                  <a:srgbClr val="D6E5EF"/>
                </a:solidFill>
                <a:latin typeface="Roboto" pitchFamily="34" charset="0"/>
                <a:ea typeface="Roboto" pitchFamily="34" charset="-122"/>
                <a:cs typeface="Roboto" pitchFamily="34" charset="-120"/>
              </a:rPr>
              <a:t> auto-scales the number of serving instances in real-time based on concurrent users — spinning up new instances within seconds during peak registration windows. </a:t>
            </a:r>
            <a:r>
              <a:rPr lang="en-US" sz="750" b="1" dirty="0">
                <a:solidFill>
                  <a:srgbClr val="D6E5EF"/>
                </a:solidFill>
                <a:latin typeface="Roboto" pitchFamily="34" charset="0"/>
                <a:ea typeface="Roboto" pitchFamily="34" charset="-122"/>
                <a:cs typeface="Roboto" pitchFamily="34" charset="-120"/>
              </a:rPr>
              <a:t>Cloud Functions</a:t>
            </a:r>
            <a:r>
              <a:rPr lang="en-US" sz="750" dirty="0">
                <a:solidFill>
                  <a:srgbClr val="D6E5EF"/>
                </a:solidFill>
                <a:latin typeface="Roboto" pitchFamily="34" charset="0"/>
                <a:ea typeface="Roboto" pitchFamily="34" charset="-122"/>
                <a:cs typeface="Roboto" pitchFamily="34" charset="-120"/>
              </a:rPr>
              <a:t> decouple backend logic from the frontend, enabling independent scaling of registration processing, notification dispatch, and data validation. </a:t>
            </a:r>
            <a:r>
              <a:rPr lang="en-US" sz="750" b="1" dirty="0">
                <a:solidFill>
                  <a:srgbClr val="D6E5EF"/>
                </a:solidFill>
                <a:latin typeface="Roboto" pitchFamily="34" charset="0"/>
                <a:ea typeface="Roboto" pitchFamily="34" charset="-122"/>
                <a:cs typeface="Roboto" pitchFamily="34" charset="-120"/>
              </a:rPr>
              <a:t>Cloud SQL</a:t>
            </a:r>
            <a:r>
              <a:rPr lang="en-US" sz="750" dirty="0">
                <a:solidFill>
                  <a:srgbClr val="D6E5EF"/>
                </a:solidFill>
                <a:latin typeface="Roboto" pitchFamily="34" charset="0"/>
                <a:ea typeface="Roboto" pitchFamily="34" charset="-122"/>
                <a:cs typeface="Roboto" pitchFamily="34" charset="-120"/>
              </a:rPr>
              <a:t> stores all relational data with enforced schemas and foreign key constraints. Finally, </a:t>
            </a:r>
            <a:r>
              <a:rPr lang="en-US" sz="750" b="1" dirty="0">
                <a:solidFill>
                  <a:srgbClr val="D6E5EF"/>
                </a:solidFill>
                <a:latin typeface="Roboto" pitchFamily="34" charset="0"/>
                <a:ea typeface="Roboto" pitchFamily="34" charset="-122"/>
                <a:cs typeface="Roboto" pitchFamily="34" charset="-120"/>
              </a:rPr>
              <a:t>IAM (Identity and Access Management)</a:t>
            </a:r>
            <a:r>
              <a:rPr lang="en-US" sz="750" dirty="0">
                <a:solidFill>
                  <a:srgbClr val="D6E5EF"/>
                </a:solidFill>
                <a:latin typeface="Roboto" pitchFamily="34" charset="0"/>
                <a:ea typeface="Roboto" pitchFamily="34" charset="-122"/>
                <a:cs typeface="Roboto" pitchFamily="34" charset="-120"/>
              </a:rPr>
              <a:t> governs which services and users can access which resources, applying the principle of least privilege across the entire stack.</a:t>
            </a:r>
            <a:endParaRPr lang="en-US" sz="750" dirty="0"/>
          </a:p>
        </p:txBody>
      </p:sp>
      <p:sp>
        <p:nvSpPr>
          <p:cNvPr id="12" name="Shape 9"/>
          <p:cNvSpPr/>
          <p:nvPr/>
        </p:nvSpPr>
        <p:spPr>
          <a:xfrm>
            <a:off x="3402449" y="5553551"/>
            <a:ext cx="3791783" cy="671274"/>
          </a:xfrm>
          <a:prstGeom prst="roundRect">
            <a:avLst>
              <a:gd name="adj" fmla="val 10897"/>
            </a:avLst>
          </a:prstGeom>
          <a:solidFill>
            <a:srgbClr val="202733"/>
          </a:solidFill>
          <a:ln w="15240">
            <a:solidFill>
              <a:srgbClr val="585F6B"/>
            </a:solidFill>
            <a:prstDash val="solid"/>
          </a:ln>
        </p:spPr>
      </p:sp>
      <p:pic>
        <p:nvPicPr>
          <p:cNvPr id="13" name="Image 1" descr="preencoded.png"/>
          <p:cNvPicPr>
            <a:picLocks noChangeAspect="1"/>
          </p:cNvPicPr>
          <p:nvPr/>
        </p:nvPicPr>
        <p:blipFill>
          <a:blip r:embed="rId4"/>
          <a:stretch>
            <a:fillRect/>
          </a:stretch>
        </p:blipFill>
        <p:spPr>
          <a:xfrm>
            <a:off x="3387209" y="5553551"/>
            <a:ext cx="60960" cy="671274"/>
          </a:xfrm>
          <a:prstGeom prst="rect">
            <a:avLst/>
          </a:prstGeom>
        </p:spPr>
      </p:pic>
      <p:sp>
        <p:nvSpPr>
          <p:cNvPr id="14" name="Text 10"/>
          <p:cNvSpPr/>
          <p:nvPr/>
        </p:nvSpPr>
        <p:spPr>
          <a:xfrm>
            <a:off x="3562588" y="5667970"/>
            <a:ext cx="1240393" cy="155019"/>
          </a:xfrm>
          <a:prstGeom prst="rect">
            <a:avLst/>
          </a:prstGeom>
          <a:noFill/>
          <a:ln/>
        </p:spPr>
        <p:txBody>
          <a:bodyPr wrap="none" lIns="0" tIns="0" rIns="0" bIns="0" rtlCol="0" anchor="t"/>
          <a:lstStyle/>
          <a:p>
            <a:pPr marL="0" indent="0" algn="l">
              <a:lnSpc>
                <a:spcPts val="1200"/>
              </a:lnSpc>
              <a:buNone/>
            </a:pPr>
            <a:r>
              <a:rPr lang="en-US" sz="950" dirty="0">
                <a:solidFill>
                  <a:srgbClr val="D6E5EF"/>
                </a:solidFill>
                <a:latin typeface="Roboto Slab" pitchFamily="34" charset="0"/>
                <a:ea typeface="Roboto Slab" pitchFamily="34" charset="-122"/>
                <a:cs typeface="Roboto Slab" pitchFamily="34" charset="-120"/>
              </a:rPr>
              <a:t>DNS + Load Balancer</a:t>
            </a:r>
            <a:endParaRPr lang="en-US" sz="950" dirty="0"/>
          </a:p>
        </p:txBody>
      </p:sp>
      <p:sp>
        <p:nvSpPr>
          <p:cNvPr id="15" name="Text 11"/>
          <p:cNvSpPr/>
          <p:nvPr/>
        </p:nvSpPr>
        <p:spPr>
          <a:xfrm>
            <a:off x="3562588" y="5872520"/>
            <a:ext cx="3517225" cy="237887"/>
          </a:xfrm>
          <a:prstGeom prst="rect">
            <a:avLst/>
          </a:prstGeom>
          <a:noFill/>
          <a:ln/>
        </p:spPr>
        <p:txBody>
          <a:bodyPr wrap="square" lIns="0" tIns="0" rIns="0" bIns="0" rtlCol="0" anchor="t"/>
          <a:lstStyle/>
          <a:p>
            <a:pPr marL="0" indent="0" algn="l">
              <a:lnSpc>
                <a:spcPts val="900"/>
              </a:lnSpc>
              <a:buNone/>
            </a:pPr>
            <a:r>
              <a:rPr lang="en-US" sz="750" dirty="0">
                <a:solidFill>
                  <a:srgbClr val="D6E5EF"/>
                </a:solidFill>
                <a:latin typeface="Roboto" pitchFamily="34" charset="0"/>
                <a:ea typeface="Roboto" pitchFamily="34" charset="-122"/>
                <a:cs typeface="Roboto" pitchFamily="34" charset="-120"/>
              </a:rPr>
              <a:t>Routes users to the nearest healthy App Engine instance. Handles SSL termination and DDoS mitigation at the edge.</a:t>
            </a:r>
            <a:endParaRPr lang="en-US" sz="750" dirty="0"/>
          </a:p>
        </p:txBody>
      </p:sp>
      <p:sp>
        <p:nvSpPr>
          <p:cNvPr id="16" name="Shape 12"/>
          <p:cNvSpPr/>
          <p:nvPr/>
        </p:nvSpPr>
        <p:spPr>
          <a:xfrm>
            <a:off x="3402449" y="6274356"/>
            <a:ext cx="3791783" cy="671274"/>
          </a:xfrm>
          <a:prstGeom prst="roundRect">
            <a:avLst>
              <a:gd name="adj" fmla="val 10897"/>
            </a:avLst>
          </a:prstGeom>
          <a:solidFill>
            <a:srgbClr val="202733"/>
          </a:solidFill>
          <a:ln w="15240">
            <a:solidFill>
              <a:srgbClr val="585F6B"/>
            </a:solidFill>
            <a:prstDash val="solid"/>
          </a:ln>
        </p:spPr>
      </p:sp>
      <p:pic>
        <p:nvPicPr>
          <p:cNvPr id="17" name="Image 2" descr="preencoded.png"/>
          <p:cNvPicPr>
            <a:picLocks noChangeAspect="1"/>
          </p:cNvPicPr>
          <p:nvPr/>
        </p:nvPicPr>
        <p:blipFill>
          <a:blip r:embed="rId4"/>
          <a:stretch>
            <a:fillRect/>
          </a:stretch>
        </p:blipFill>
        <p:spPr>
          <a:xfrm>
            <a:off x="3387209" y="6274356"/>
            <a:ext cx="60960" cy="671274"/>
          </a:xfrm>
          <a:prstGeom prst="rect">
            <a:avLst/>
          </a:prstGeom>
        </p:spPr>
      </p:pic>
      <p:sp>
        <p:nvSpPr>
          <p:cNvPr id="18" name="Text 13"/>
          <p:cNvSpPr/>
          <p:nvPr/>
        </p:nvSpPr>
        <p:spPr>
          <a:xfrm>
            <a:off x="3562588" y="6388775"/>
            <a:ext cx="1240393" cy="155019"/>
          </a:xfrm>
          <a:prstGeom prst="rect">
            <a:avLst/>
          </a:prstGeom>
          <a:noFill/>
          <a:ln/>
        </p:spPr>
        <p:txBody>
          <a:bodyPr wrap="none" lIns="0" tIns="0" rIns="0" bIns="0" rtlCol="0" anchor="t"/>
          <a:lstStyle/>
          <a:p>
            <a:pPr marL="0" indent="0" algn="l">
              <a:lnSpc>
                <a:spcPts val="1200"/>
              </a:lnSpc>
              <a:buNone/>
            </a:pPr>
            <a:r>
              <a:rPr lang="en-US" sz="950" dirty="0">
                <a:solidFill>
                  <a:srgbClr val="D6E5EF"/>
                </a:solidFill>
                <a:latin typeface="Roboto Slab" pitchFamily="34" charset="0"/>
                <a:ea typeface="Roboto Slab" pitchFamily="34" charset="-122"/>
                <a:cs typeface="Roboto Slab" pitchFamily="34" charset="-120"/>
              </a:rPr>
              <a:t>App Engine (PaaS)</a:t>
            </a:r>
            <a:endParaRPr lang="en-US" sz="950" dirty="0"/>
          </a:p>
        </p:txBody>
      </p:sp>
      <p:sp>
        <p:nvSpPr>
          <p:cNvPr id="19" name="Text 14"/>
          <p:cNvSpPr/>
          <p:nvPr/>
        </p:nvSpPr>
        <p:spPr>
          <a:xfrm>
            <a:off x="3562588" y="6593324"/>
            <a:ext cx="3517225" cy="237887"/>
          </a:xfrm>
          <a:prstGeom prst="rect">
            <a:avLst/>
          </a:prstGeom>
          <a:noFill/>
          <a:ln/>
        </p:spPr>
        <p:txBody>
          <a:bodyPr wrap="square" lIns="0" tIns="0" rIns="0" bIns="0" rtlCol="0" anchor="t"/>
          <a:lstStyle/>
          <a:p>
            <a:pPr marL="0" indent="0" algn="l">
              <a:lnSpc>
                <a:spcPts val="900"/>
              </a:lnSpc>
              <a:buNone/>
            </a:pPr>
            <a:r>
              <a:rPr lang="en-US" sz="750" dirty="0">
                <a:solidFill>
                  <a:srgbClr val="D6E5EF"/>
                </a:solidFill>
                <a:latin typeface="Roboto" pitchFamily="34" charset="0"/>
                <a:ea typeface="Roboto" pitchFamily="34" charset="-122"/>
                <a:cs typeface="Roboto" pitchFamily="34" charset="-120"/>
              </a:rPr>
              <a:t>Serves the frontend web app. Auto-scales from 0 to thousands of instances. Zero configuration required for scaling policies.</a:t>
            </a:r>
            <a:endParaRPr lang="en-US" sz="750" dirty="0"/>
          </a:p>
        </p:txBody>
      </p:sp>
      <p:sp>
        <p:nvSpPr>
          <p:cNvPr id="20" name="Shape 15"/>
          <p:cNvSpPr/>
          <p:nvPr/>
        </p:nvSpPr>
        <p:spPr>
          <a:xfrm>
            <a:off x="3402449" y="6995160"/>
            <a:ext cx="3791783" cy="671274"/>
          </a:xfrm>
          <a:prstGeom prst="roundRect">
            <a:avLst>
              <a:gd name="adj" fmla="val 10897"/>
            </a:avLst>
          </a:prstGeom>
          <a:solidFill>
            <a:srgbClr val="202733"/>
          </a:solidFill>
          <a:ln w="15240">
            <a:solidFill>
              <a:srgbClr val="585F6B"/>
            </a:solidFill>
            <a:prstDash val="solid"/>
          </a:ln>
        </p:spPr>
      </p:sp>
      <p:pic>
        <p:nvPicPr>
          <p:cNvPr id="21" name="Image 3" descr="preencoded.png"/>
          <p:cNvPicPr>
            <a:picLocks noChangeAspect="1"/>
          </p:cNvPicPr>
          <p:nvPr/>
        </p:nvPicPr>
        <p:blipFill>
          <a:blip r:embed="rId4"/>
          <a:stretch>
            <a:fillRect/>
          </a:stretch>
        </p:blipFill>
        <p:spPr>
          <a:xfrm>
            <a:off x="3387209" y="6995160"/>
            <a:ext cx="60960" cy="671274"/>
          </a:xfrm>
          <a:prstGeom prst="rect">
            <a:avLst/>
          </a:prstGeom>
        </p:spPr>
      </p:pic>
      <p:sp>
        <p:nvSpPr>
          <p:cNvPr id="22" name="Text 16"/>
          <p:cNvSpPr/>
          <p:nvPr/>
        </p:nvSpPr>
        <p:spPr>
          <a:xfrm>
            <a:off x="3562588" y="7109579"/>
            <a:ext cx="1240393" cy="155019"/>
          </a:xfrm>
          <a:prstGeom prst="rect">
            <a:avLst/>
          </a:prstGeom>
          <a:noFill/>
          <a:ln/>
        </p:spPr>
        <p:txBody>
          <a:bodyPr wrap="none" lIns="0" tIns="0" rIns="0" bIns="0" rtlCol="0" anchor="t"/>
          <a:lstStyle/>
          <a:p>
            <a:pPr marL="0" indent="0" algn="l">
              <a:lnSpc>
                <a:spcPts val="1200"/>
              </a:lnSpc>
              <a:buNone/>
            </a:pPr>
            <a:r>
              <a:rPr lang="en-US" sz="950" dirty="0">
                <a:solidFill>
                  <a:srgbClr val="D6E5EF"/>
                </a:solidFill>
                <a:latin typeface="Roboto Slab" pitchFamily="34" charset="0"/>
                <a:ea typeface="Roboto Slab" pitchFamily="34" charset="-122"/>
                <a:cs typeface="Roboto Slab" pitchFamily="34" charset="-120"/>
              </a:rPr>
              <a:t>Cloud Functions</a:t>
            </a:r>
            <a:endParaRPr lang="en-US" sz="950" dirty="0"/>
          </a:p>
        </p:txBody>
      </p:sp>
      <p:sp>
        <p:nvSpPr>
          <p:cNvPr id="23" name="Text 17"/>
          <p:cNvSpPr/>
          <p:nvPr/>
        </p:nvSpPr>
        <p:spPr>
          <a:xfrm>
            <a:off x="3562588" y="7314128"/>
            <a:ext cx="3517225" cy="237887"/>
          </a:xfrm>
          <a:prstGeom prst="rect">
            <a:avLst/>
          </a:prstGeom>
          <a:noFill/>
          <a:ln/>
        </p:spPr>
        <p:txBody>
          <a:bodyPr wrap="square" lIns="0" tIns="0" rIns="0" bIns="0" rtlCol="0" anchor="t"/>
          <a:lstStyle/>
          <a:p>
            <a:pPr marL="0" indent="0" algn="l">
              <a:lnSpc>
                <a:spcPts val="900"/>
              </a:lnSpc>
              <a:buNone/>
            </a:pPr>
            <a:r>
              <a:rPr lang="en-US" sz="750" dirty="0">
                <a:solidFill>
                  <a:srgbClr val="D6E5EF"/>
                </a:solidFill>
                <a:latin typeface="Roboto" pitchFamily="34" charset="0"/>
                <a:ea typeface="Roboto" pitchFamily="34" charset="-122"/>
                <a:cs typeface="Roboto" pitchFamily="34" charset="-120"/>
              </a:rPr>
              <a:t>Stateless serverless functions triggered by HTTP calls from the frontend. Handles registration, validation, and event queries.</a:t>
            </a:r>
            <a:endParaRPr lang="en-US" sz="750" dirty="0"/>
          </a:p>
        </p:txBody>
      </p:sp>
      <p:sp>
        <p:nvSpPr>
          <p:cNvPr id="24" name="Shape 18"/>
          <p:cNvSpPr/>
          <p:nvPr/>
        </p:nvSpPr>
        <p:spPr>
          <a:xfrm>
            <a:off x="7443788" y="5553551"/>
            <a:ext cx="3791783" cy="671274"/>
          </a:xfrm>
          <a:prstGeom prst="roundRect">
            <a:avLst>
              <a:gd name="adj" fmla="val 10897"/>
            </a:avLst>
          </a:prstGeom>
          <a:solidFill>
            <a:srgbClr val="202733"/>
          </a:solidFill>
          <a:ln w="15240">
            <a:solidFill>
              <a:srgbClr val="585F6B"/>
            </a:solidFill>
            <a:prstDash val="solid"/>
          </a:ln>
        </p:spPr>
      </p:sp>
      <p:pic>
        <p:nvPicPr>
          <p:cNvPr id="25" name="Image 4" descr="preencoded.png"/>
          <p:cNvPicPr>
            <a:picLocks noChangeAspect="1"/>
          </p:cNvPicPr>
          <p:nvPr/>
        </p:nvPicPr>
        <p:blipFill>
          <a:blip r:embed="rId4"/>
          <a:stretch>
            <a:fillRect/>
          </a:stretch>
        </p:blipFill>
        <p:spPr>
          <a:xfrm>
            <a:off x="7428548" y="5553551"/>
            <a:ext cx="60960" cy="671274"/>
          </a:xfrm>
          <a:prstGeom prst="rect">
            <a:avLst/>
          </a:prstGeom>
        </p:spPr>
      </p:pic>
      <p:sp>
        <p:nvSpPr>
          <p:cNvPr id="26" name="Text 19"/>
          <p:cNvSpPr/>
          <p:nvPr/>
        </p:nvSpPr>
        <p:spPr>
          <a:xfrm>
            <a:off x="7603927" y="5667970"/>
            <a:ext cx="1240393" cy="155019"/>
          </a:xfrm>
          <a:prstGeom prst="rect">
            <a:avLst/>
          </a:prstGeom>
          <a:noFill/>
          <a:ln/>
        </p:spPr>
        <p:txBody>
          <a:bodyPr wrap="none" lIns="0" tIns="0" rIns="0" bIns="0" rtlCol="0" anchor="t"/>
          <a:lstStyle/>
          <a:p>
            <a:pPr marL="0" indent="0" algn="l">
              <a:lnSpc>
                <a:spcPts val="1200"/>
              </a:lnSpc>
              <a:buNone/>
            </a:pPr>
            <a:r>
              <a:rPr lang="en-US" sz="950" dirty="0">
                <a:solidFill>
                  <a:srgbClr val="D6E5EF"/>
                </a:solidFill>
                <a:latin typeface="Roboto Slab" pitchFamily="34" charset="0"/>
                <a:ea typeface="Roboto Slab" pitchFamily="34" charset="-122"/>
                <a:cs typeface="Roboto Slab" pitchFamily="34" charset="-120"/>
              </a:rPr>
              <a:t>Cloud SQL</a:t>
            </a:r>
            <a:endParaRPr lang="en-US" sz="950" dirty="0"/>
          </a:p>
        </p:txBody>
      </p:sp>
      <p:sp>
        <p:nvSpPr>
          <p:cNvPr id="27" name="Text 20"/>
          <p:cNvSpPr/>
          <p:nvPr/>
        </p:nvSpPr>
        <p:spPr>
          <a:xfrm>
            <a:off x="7603927" y="5872520"/>
            <a:ext cx="3517225" cy="237887"/>
          </a:xfrm>
          <a:prstGeom prst="rect">
            <a:avLst/>
          </a:prstGeom>
          <a:noFill/>
          <a:ln/>
        </p:spPr>
        <p:txBody>
          <a:bodyPr wrap="square" lIns="0" tIns="0" rIns="0" bIns="0" rtlCol="0" anchor="t"/>
          <a:lstStyle/>
          <a:p>
            <a:pPr marL="0" indent="0" algn="l">
              <a:lnSpc>
                <a:spcPts val="900"/>
              </a:lnSpc>
              <a:buNone/>
            </a:pPr>
            <a:r>
              <a:rPr lang="en-US" sz="750" dirty="0">
                <a:solidFill>
                  <a:srgbClr val="D6E5EF"/>
                </a:solidFill>
                <a:latin typeface="Roboto" pitchFamily="34" charset="0"/>
                <a:ea typeface="Roboto" pitchFamily="34" charset="-122"/>
                <a:cs typeface="Roboto" pitchFamily="34" charset="-120"/>
              </a:rPr>
              <a:t>Managed relational database. Stores students, events, registrations, and capacity data with ACID guarantees and automated backups.</a:t>
            </a:r>
            <a:endParaRPr lang="en-US" sz="750" dirty="0"/>
          </a:p>
        </p:txBody>
      </p:sp>
      <p:sp>
        <p:nvSpPr>
          <p:cNvPr id="28" name="Shape 21"/>
          <p:cNvSpPr/>
          <p:nvPr/>
        </p:nvSpPr>
        <p:spPr>
          <a:xfrm>
            <a:off x="7443788" y="6274356"/>
            <a:ext cx="3791783" cy="671274"/>
          </a:xfrm>
          <a:prstGeom prst="roundRect">
            <a:avLst>
              <a:gd name="adj" fmla="val 10897"/>
            </a:avLst>
          </a:prstGeom>
          <a:solidFill>
            <a:srgbClr val="202733"/>
          </a:solidFill>
          <a:ln w="15240">
            <a:solidFill>
              <a:srgbClr val="585F6B"/>
            </a:solidFill>
            <a:prstDash val="solid"/>
          </a:ln>
        </p:spPr>
      </p:sp>
      <p:pic>
        <p:nvPicPr>
          <p:cNvPr id="29" name="Image 5" descr="preencoded.png"/>
          <p:cNvPicPr>
            <a:picLocks noChangeAspect="1"/>
          </p:cNvPicPr>
          <p:nvPr/>
        </p:nvPicPr>
        <p:blipFill>
          <a:blip r:embed="rId4"/>
          <a:stretch>
            <a:fillRect/>
          </a:stretch>
        </p:blipFill>
        <p:spPr>
          <a:xfrm>
            <a:off x="7428548" y="6274356"/>
            <a:ext cx="60960" cy="671274"/>
          </a:xfrm>
          <a:prstGeom prst="rect">
            <a:avLst/>
          </a:prstGeom>
        </p:spPr>
      </p:pic>
      <p:sp>
        <p:nvSpPr>
          <p:cNvPr id="30" name="Text 22"/>
          <p:cNvSpPr/>
          <p:nvPr/>
        </p:nvSpPr>
        <p:spPr>
          <a:xfrm>
            <a:off x="7603927" y="6388775"/>
            <a:ext cx="1240393" cy="155019"/>
          </a:xfrm>
          <a:prstGeom prst="rect">
            <a:avLst/>
          </a:prstGeom>
          <a:noFill/>
          <a:ln/>
        </p:spPr>
        <p:txBody>
          <a:bodyPr wrap="none" lIns="0" tIns="0" rIns="0" bIns="0" rtlCol="0" anchor="t"/>
          <a:lstStyle/>
          <a:p>
            <a:pPr marL="0" indent="0" algn="l">
              <a:lnSpc>
                <a:spcPts val="1200"/>
              </a:lnSpc>
              <a:buNone/>
            </a:pPr>
            <a:r>
              <a:rPr lang="en-US" sz="950" dirty="0">
                <a:solidFill>
                  <a:srgbClr val="D6E5EF"/>
                </a:solidFill>
                <a:latin typeface="Roboto Slab" pitchFamily="34" charset="0"/>
                <a:ea typeface="Roboto Slab" pitchFamily="34" charset="-122"/>
                <a:cs typeface="Roboto Slab" pitchFamily="34" charset="-120"/>
              </a:rPr>
              <a:t>IAM Roles</a:t>
            </a:r>
            <a:endParaRPr lang="en-US" sz="950" dirty="0"/>
          </a:p>
        </p:txBody>
      </p:sp>
      <p:sp>
        <p:nvSpPr>
          <p:cNvPr id="31" name="Text 23"/>
          <p:cNvSpPr/>
          <p:nvPr/>
        </p:nvSpPr>
        <p:spPr>
          <a:xfrm>
            <a:off x="7603927" y="6593324"/>
            <a:ext cx="3517225" cy="237887"/>
          </a:xfrm>
          <a:prstGeom prst="rect">
            <a:avLst/>
          </a:prstGeom>
          <a:noFill/>
          <a:ln/>
        </p:spPr>
        <p:txBody>
          <a:bodyPr wrap="square" lIns="0" tIns="0" rIns="0" bIns="0" rtlCol="0" anchor="t"/>
          <a:lstStyle/>
          <a:p>
            <a:pPr marL="0" indent="0" algn="l">
              <a:lnSpc>
                <a:spcPts val="900"/>
              </a:lnSpc>
              <a:buNone/>
            </a:pPr>
            <a:r>
              <a:rPr lang="en-US" sz="750" dirty="0">
                <a:solidFill>
                  <a:srgbClr val="D6E5EF"/>
                </a:solidFill>
                <a:latin typeface="Roboto" pitchFamily="34" charset="0"/>
                <a:ea typeface="Roboto" pitchFamily="34" charset="-122"/>
                <a:cs typeface="Roboto" pitchFamily="34" charset="-120"/>
              </a:rPr>
              <a:t>Granular access control. Admin roles manage events; student roles can only read/register. Service accounts restrict inter-service access.</a:t>
            </a:r>
            <a:endParaRPr lang="en-US" sz="750" dirty="0"/>
          </a:p>
        </p:txBody>
      </p:sp>
      <p:sp>
        <p:nvSpPr>
          <p:cNvPr id="32" name="Shape 24"/>
          <p:cNvSpPr/>
          <p:nvPr/>
        </p:nvSpPr>
        <p:spPr>
          <a:xfrm>
            <a:off x="7443788" y="6995160"/>
            <a:ext cx="3791783" cy="671274"/>
          </a:xfrm>
          <a:prstGeom prst="roundRect">
            <a:avLst>
              <a:gd name="adj" fmla="val 10897"/>
            </a:avLst>
          </a:prstGeom>
          <a:solidFill>
            <a:srgbClr val="202733"/>
          </a:solidFill>
          <a:ln w="15240">
            <a:solidFill>
              <a:srgbClr val="585F6B"/>
            </a:solidFill>
            <a:prstDash val="solid"/>
          </a:ln>
        </p:spPr>
      </p:sp>
      <p:pic>
        <p:nvPicPr>
          <p:cNvPr id="33" name="Image 6" descr="preencoded.png"/>
          <p:cNvPicPr>
            <a:picLocks noChangeAspect="1"/>
          </p:cNvPicPr>
          <p:nvPr/>
        </p:nvPicPr>
        <p:blipFill>
          <a:blip r:embed="rId4"/>
          <a:stretch>
            <a:fillRect/>
          </a:stretch>
        </p:blipFill>
        <p:spPr>
          <a:xfrm>
            <a:off x="7428548" y="6995160"/>
            <a:ext cx="60960" cy="671274"/>
          </a:xfrm>
          <a:prstGeom prst="rect">
            <a:avLst/>
          </a:prstGeom>
        </p:spPr>
      </p:pic>
      <p:sp>
        <p:nvSpPr>
          <p:cNvPr id="34" name="Text 25"/>
          <p:cNvSpPr/>
          <p:nvPr/>
        </p:nvSpPr>
        <p:spPr>
          <a:xfrm>
            <a:off x="7603927" y="7109579"/>
            <a:ext cx="1382197" cy="155019"/>
          </a:xfrm>
          <a:prstGeom prst="rect">
            <a:avLst/>
          </a:prstGeom>
          <a:noFill/>
          <a:ln/>
        </p:spPr>
        <p:txBody>
          <a:bodyPr wrap="none" lIns="0" tIns="0" rIns="0" bIns="0" rtlCol="0" anchor="t"/>
          <a:lstStyle/>
          <a:p>
            <a:pPr marL="0" indent="0" algn="l">
              <a:lnSpc>
                <a:spcPts val="1200"/>
              </a:lnSpc>
              <a:buNone/>
            </a:pPr>
            <a:r>
              <a:rPr lang="en-US" sz="950" dirty="0">
                <a:solidFill>
                  <a:srgbClr val="D6E5EF"/>
                </a:solidFill>
                <a:latin typeface="Roboto Slab" pitchFamily="34" charset="0"/>
                <a:ea typeface="Roboto Slab" pitchFamily="34" charset="-122"/>
                <a:cs typeface="Roboto Slab" pitchFamily="34" charset="-120"/>
              </a:rPr>
              <a:t>Loosely Coupled Design</a:t>
            </a:r>
            <a:endParaRPr lang="en-US" sz="950" dirty="0"/>
          </a:p>
        </p:txBody>
      </p:sp>
      <p:sp>
        <p:nvSpPr>
          <p:cNvPr id="35" name="Text 26"/>
          <p:cNvSpPr/>
          <p:nvPr/>
        </p:nvSpPr>
        <p:spPr>
          <a:xfrm>
            <a:off x="7603927" y="7314128"/>
            <a:ext cx="3517225" cy="237887"/>
          </a:xfrm>
          <a:prstGeom prst="rect">
            <a:avLst/>
          </a:prstGeom>
          <a:noFill/>
          <a:ln/>
        </p:spPr>
        <p:txBody>
          <a:bodyPr wrap="square" lIns="0" tIns="0" rIns="0" bIns="0" rtlCol="0" anchor="t"/>
          <a:lstStyle/>
          <a:p>
            <a:pPr marL="0" indent="0" algn="l">
              <a:lnSpc>
                <a:spcPts val="900"/>
              </a:lnSpc>
              <a:buNone/>
            </a:pPr>
            <a:r>
              <a:rPr lang="en-US" sz="750" dirty="0">
                <a:solidFill>
                  <a:srgbClr val="D6E5EF"/>
                </a:solidFill>
                <a:latin typeface="Roboto" pitchFamily="34" charset="0"/>
                <a:ea typeface="Roboto" pitchFamily="34" charset="-122"/>
                <a:cs typeface="Roboto" pitchFamily="34" charset="-120"/>
              </a:rPr>
              <a:t>Components communicate via APIs. Replacing or upgrading any layer does not break the rest of the system — enabling agile iteration.</a:t>
            </a:r>
            <a:endParaRPr lang="en-US" sz="750" dirty="0"/>
          </a:p>
        </p:txBody>
      </p:sp>
      <p:sp>
        <p:nvSpPr>
          <p:cNvPr id="36" name="Rectangle 35">
            <a:extLst>
              <a:ext uri="{FF2B5EF4-FFF2-40B4-BE49-F238E27FC236}">
                <a16:creationId xmlns:a16="http://schemas.microsoft.com/office/drawing/2014/main" id="{B1F5BA9B-11DF-833C-39F6-E024E94717A6}"/>
              </a:ext>
            </a:extLst>
          </p:cNvPr>
          <p:cNvSpPr/>
          <p:nvPr/>
        </p:nvSpPr>
        <p:spPr>
          <a:xfrm>
            <a:off x="12773025" y="7743825"/>
            <a:ext cx="1762125" cy="419100"/>
          </a:xfrm>
          <a:prstGeom prst="rect">
            <a:avLst/>
          </a:prstGeom>
          <a:solidFill>
            <a:srgbClr val="2027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026795" y="1222534"/>
            <a:ext cx="5014317" cy="498396"/>
          </a:xfrm>
          <a:prstGeom prst="rect">
            <a:avLst/>
          </a:prstGeom>
          <a:noFill/>
          <a:ln/>
        </p:spPr>
        <p:txBody>
          <a:bodyPr wrap="none" lIns="0" tIns="0" rIns="0" bIns="0" rtlCol="0" anchor="t"/>
          <a:lstStyle/>
          <a:p>
            <a:pPr marL="0" indent="0" algn="l">
              <a:lnSpc>
                <a:spcPts val="3900"/>
              </a:lnSpc>
              <a:buNone/>
            </a:pPr>
            <a:r>
              <a:rPr lang="en-US" sz="3100" dirty="0">
                <a:solidFill>
                  <a:srgbClr val="76B9FF"/>
                </a:solidFill>
                <a:latin typeface="Roboto Slab" pitchFamily="34" charset="0"/>
                <a:ea typeface="Roboto Slab" pitchFamily="34" charset="-122"/>
                <a:cs typeface="Roboto Slab" pitchFamily="34" charset="-120"/>
              </a:rPr>
              <a:t>Cloud Concepts in Practice</a:t>
            </a:r>
            <a:endParaRPr lang="en-US" sz="3100" dirty="0"/>
          </a:p>
        </p:txBody>
      </p:sp>
      <p:sp>
        <p:nvSpPr>
          <p:cNvPr id="3" name="Text 1"/>
          <p:cNvSpPr/>
          <p:nvPr/>
        </p:nvSpPr>
        <p:spPr>
          <a:xfrm>
            <a:off x="1026795" y="1977152"/>
            <a:ext cx="12576691" cy="460296"/>
          </a:xfrm>
          <a:prstGeom prst="rect">
            <a:avLst/>
          </a:prstGeom>
          <a:noFill/>
          <a:ln/>
        </p:spPr>
        <p:txBody>
          <a:bodyPr wrap="square" lIns="0" tIns="0" rIns="0" bIns="0" rtlCol="0" anchor="t"/>
          <a:lstStyle/>
          <a:p>
            <a:pPr marL="0" indent="0" algn="l">
              <a:lnSpc>
                <a:spcPts val="1800"/>
              </a:lnSpc>
              <a:buNone/>
            </a:pPr>
            <a:r>
              <a:rPr lang="en-US" sz="1250" dirty="0">
                <a:solidFill>
                  <a:srgbClr val="D6E5EF"/>
                </a:solidFill>
                <a:latin typeface="Roboto" pitchFamily="34" charset="0"/>
                <a:ea typeface="Roboto" pitchFamily="34" charset="-122"/>
                <a:cs typeface="Roboto" pitchFamily="34" charset="-120"/>
              </a:rPr>
              <a:t>This system isn't just a technical implementation — it's a demonstration of foundational </a:t>
            </a:r>
            <a:r>
              <a:rPr lang="en-US" sz="1250" b="1" dirty="0">
                <a:solidFill>
                  <a:srgbClr val="D6E5EF"/>
                </a:solidFill>
                <a:latin typeface="Roboto" pitchFamily="34" charset="0"/>
                <a:ea typeface="Roboto" pitchFamily="34" charset="-122"/>
                <a:cs typeface="Roboto" pitchFamily="34" charset="-120"/>
              </a:rPr>
              <a:t>cloud computing principles</a:t>
            </a:r>
            <a:r>
              <a:rPr lang="en-US" sz="1250" dirty="0">
                <a:solidFill>
                  <a:srgbClr val="D6E5EF"/>
                </a:solidFill>
                <a:latin typeface="Roboto" pitchFamily="34" charset="0"/>
                <a:ea typeface="Roboto" pitchFamily="34" charset="-122"/>
                <a:cs typeface="Roboto" pitchFamily="34" charset="-120"/>
              </a:rPr>
              <a:t> applied to a real university use case. Below are the core concepts that shape the architecture and delivery model of this platform.</a:t>
            </a:r>
            <a:endParaRPr lang="en-US" sz="1250" dirty="0"/>
          </a:p>
        </p:txBody>
      </p:sp>
      <p:sp>
        <p:nvSpPr>
          <p:cNvPr id="4" name="Shape 2"/>
          <p:cNvSpPr/>
          <p:nvPr/>
        </p:nvSpPr>
        <p:spPr>
          <a:xfrm>
            <a:off x="1026795" y="2581513"/>
            <a:ext cx="4106823" cy="2025610"/>
          </a:xfrm>
          <a:prstGeom prst="roundRect">
            <a:avLst>
              <a:gd name="adj" fmla="val 1181"/>
            </a:avLst>
          </a:prstGeom>
          <a:solidFill>
            <a:srgbClr val="3F4652"/>
          </a:solidFill>
          <a:ln/>
        </p:spPr>
      </p:sp>
      <p:sp>
        <p:nvSpPr>
          <p:cNvPr id="5" name="Text 3"/>
          <p:cNvSpPr/>
          <p:nvPr/>
        </p:nvSpPr>
        <p:spPr>
          <a:xfrm>
            <a:off x="1186220" y="2740938"/>
            <a:ext cx="1993583" cy="249079"/>
          </a:xfrm>
          <a:prstGeom prst="rect">
            <a:avLst/>
          </a:prstGeom>
          <a:noFill/>
          <a:ln/>
        </p:spPr>
        <p:txBody>
          <a:bodyPr wrap="none" lIns="0" tIns="0" rIns="0" bIns="0" rtlCol="0" anchor="t"/>
          <a:lstStyle/>
          <a:p>
            <a:pPr marL="0" indent="0" algn="l">
              <a:lnSpc>
                <a:spcPts val="1950"/>
              </a:lnSpc>
              <a:buNone/>
            </a:pPr>
            <a:r>
              <a:rPr lang="en-US" sz="1550" dirty="0">
                <a:solidFill>
                  <a:srgbClr val="D6E5EF"/>
                </a:solidFill>
                <a:latin typeface="Roboto Slab" pitchFamily="34" charset="0"/>
                <a:ea typeface="Roboto Slab" pitchFamily="34" charset="-122"/>
                <a:cs typeface="Roboto Slab" pitchFamily="34" charset="-120"/>
              </a:rPr>
              <a:t>IaaS vs PaaS vs SaaS</a:t>
            </a:r>
            <a:endParaRPr lang="en-US" sz="1550" dirty="0"/>
          </a:p>
        </p:txBody>
      </p:sp>
      <p:sp>
        <p:nvSpPr>
          <p:cNvPr id="6" name="Text 4"/>
          <p:cNvSpPr/>
          <p:nvPr/>
        </p:nvSpPr>
        <p:spPr>
          <a:xfrm>
            <a:off x="1186220" y="3066812"/>
            <a:ext cx="3787973" cy="1380887"/>
          </a:xfrm>
          <a:prstGeom prst="rect">
            <a:avLst/>
          </a:prstGeom>
          <a:noFill/>
          <a:ln/>
        </p:spPr>
        <p:txBody>
          <a:bodyPr wrap="square" lIns="0" tIns="0" rIns="0" bIns="0" rtlCol="0" anchor="t"/>
          <a:lstStyle/>
          <a:p>
            <a:pPr marL="0" indent="0" algn="l">
              <a:lnSpc>
                <a:spcPts val="1800"/>
              </a:lnSpc>
              <a:buNone/>
            </a:pPr>
            <a:r>
              <a:rPr lang="en-US" sz="1250" b="1" dirty="0">
                <a:solidFill>
                  <a:srgbClr val="D6E5EF"/>
                </a:solidFill>
                <a:latin typeface="Roboto" pitchFamily="34" charset="0"/>
                <a:ea typeface="Roboto" pitchFamily="34" charset="-122"/>
                <a:cs typeface="Roboto" pitchFamily="34" charset="-120"/>
              </a:rPr>
              <a:t>IaaS</a:t>
            </a:r>
            <a:r>
              <a:rPr lang="en-US" sz="1250" dirty="0">
                <a:solidFill>
                  <a:srgbClr val="D6E5EF"/>
                </a:solidFill>
                <a:latin typeface="Roboto" pitchFamily="34" charset="0"/>
                <a:ea typeface="Roboto" pitchFamily="34" charset="-122"/>
                <a:cs typeface="Roboto" pitchFamily="34" charset="-120"/>
              </a:rPr>
              <a:t> (Infrastructure): Raw VMs and networking — not used here, as we avoid managing OS layers. </a:t>
            </a:r>
            <a:r>
              <a:rPr lang="en-US" sz="1250" b="1" dirty="0">
                <a:solidFill>
                  <a:srgbClr val="D6E5EF"/>
                </a:solidFill>
                <a:latin typeface="Roboto" pitchFamily="34" charset="0"/>
                <a:ea typeface="Roboto" pitchFamily="34" charset="-122"/>
                <a:cs typeface="Roboto" pitchFamily="34" charset="-120"/>
              </a:rPr>
              <a:t>PaaS</a:t>
            </a:r>
            <a:r>
              <a:rPr lang="en-US" sz="1250" dirty="0">
                <a:solidFill>
                  <a:srgbClr val="D6E5EF"/>
                </a:solidFill>
                <a:latin typeface="Roboto" pitchFamily="34" charset="0"/>
                <a:ea typeface="Roboto" pitchFamily="34" charset="-122"/>
                <a:cs typeface="Roboto" pitchFamily="34" charset="-120"/>
              </a:rPr>
              <a:t> (Platform): App Engine and Cloud SQL give us managed runtimes — our choice. </a:t>
            </a:r>
            <a:r>
              <a:rPr lang="en-US" sz="1250" b="1" dirty="0">
                <a:solidFill>
                  <a:srgbClr val="D6E5EF"/>
                </a:solidFill>
                <a:latin typeface="Roboto" pitchFamily="34" charset="0"/>
                <a:ea typeface="Roboto" pitchFamily="34" charset="-122"/>
                <a:cs typeface="Roboto" pitchFamily="34" charset="-120"/>
              </a:rPr>
              <a:t>SaaS</a:t>
            </a:r>
            <a:r>
              <a:rPr lang="en-US" sz="1250" dirty="0">
                <a:solidFill>
                  <a:srgbClr val="D6E5EF"/>
                </a:solidFill>
                <a:latin typeface="Roboto" pitchFamily="34" charset="0"/>
                <a:ea typeface="Roboto" pitchFamily="34" charset="-122"/>
                <a:cs typeface="Roboto" pitchFamily="34" charset="-120"/>
              </a:rPr>
              <a:t> (Software): End-users consume the registration portal as a ready-to-use service with no installation.</a:t>
            </a:r>
            <a:endParaRPr lang="en-US" sz="1250" dirty="0"/>
          </a:p>
        </p:txBody>
      </p:sp>
      <p:sp>
        <p:nvSpPr>
          <p:cNvPr id="7" name="Shape 5"/>
          <p:cNvSpPr/>
          <p:nvPr/>
        </p:nvSpPr>
        <p:spPr>
          <a:xfrm>
            <a:off x="5261729" y="2581513"/>
            <a:ext cx="4106823" cy="2025610"/>
          </a:xfrm>
          <a:prstGeom prst="roundRect">
            <a:avLst>
              <a:gd name="adj" fmla="val 1181"/>
            </a:avLst>
          </a:prstGeom>
          <a:solidFill>
            <a:srgbClr val="3F4652"/>
          </a:solidFill>
          <a:ln/>
        </p:spPr>
      </p:sp>
      <p:sp>
        <p:nvSpPr>
          <p:cNvPr id="8" name="Text 6"/>
          <p:cNvSpPr/>
          <p:nvPr/>
        </p:nvSpPr>
        <p:spPr>
          <a:xfrm>
            <a:off x="5421154" y="2740938"/>
            <a:ext cx="2008823" cy="249079"/>
          </a:xfrm>
          <a:prstGeom prst="rect">
            <a:avLst/>
          </a:prstGeom>
          <a:noFill/>
          <a:ln/>
        </p:spPr>
        <p:txBody>
          <a:bodyPr wrap="none" lIns="0" tIns="0" rIns="0" bIns="0" rtlCol="0" anchor="t"/>
          <a:lstStyle/>
          <a:p>
            <a:pPr marL="0" indent="0" algn="l">
              <a:lnSpc>
                <a:spcPts val="1950"/>
              </a:lnSpc>
              <a:buNone/>
            </a:pPr>
            <a:r>
              <a:rPr lang="en-US" sz="1550" dirty="0">
                <a:solidFill>
                  <a:srgbClr val="D6E5EF"/>
                </a:solidFill>
                <a:latin typeface="Roboto Slab" pitchFamily="34" charset="0"/>
                <a:ea typeface="Roboto Slab" pitchFamily="34" charset="-122"/>
                <a:cs typeface="Roboto Slab" pitchFamily="34" charset="-120"/>
              </a:rPr>
              <a:t>CAPEX → OPEX Shift</a:t>
            </a:r>
            <a:endParaRPr lang="en-US" sz="1550" dirty="0"/>
          </a:p>
        </p:txBody>
      </p:sp>
      <p:sp>
        <p:nvSpPr>
          <p:cNvPr id="9" name="Text 7"/>
          <p:cNvSpPr/>
          <p:nvPr/>
        </p:nvSpPr>
        <p:spPr>
          <a:xfrm>
            <a:off x="5421154" y="3066812"/>
            <a:ext cx="3787973" cy="1380887"/>
          </a:xfrm>
          <a:prstGeom prst="rect">
            <a:avLst/>
          </a:prstGeom>
          <a:noFill/>
          <a:ln/>
        </p:spPr>
        <p:txBody>
          <a:bodyPr wrap="square" lIns="0" tIns="0" rIns="0" bIns="0" rtlCol="0" anchor="t"/>
          <a:lstStyle/>
          <a:p>
            <a:pPr marL="0" indent="0" algn="l">
              <a:lnSpc>
                <a:spcPts val="1800"/>
              </a:lnSpc>
              <a:buNone/>
            </a:pPr>
            <a:r>
              <a:rPr lang="en-US" sz="1250" dirty="0">
                <a:solidFill>
                  <a:srgbClr val="D6E5EF"/>
                </a:solidFill>
                <a:latin typeface="Roboto" pitchFamily="34" charset="0"/>
                <a:ea typeface="Roboto" pitchFamily="34" charset="-122"/>
                <a:cs typeface="Roboto" pitchFamily="34" charset="-120"/>
              </a:rPr>
              <a:t>Traditional university IT requires </a:t>
            </a:r>
            <a:r>
              <a:rPr lang="en-US" sz="1250" b="1" dirty="0">
                <a:solidFill>
                  <a:srgbClr val="D6E5EF"/>
                </a:solidFill>
                <a:latin typeface="Roboto" pitchFamily="34" charset="0"/>
                <a:ea typeface="Roboto" pitchFamily="34" charset="-122"/>
                <a:cs typeface="Roboto" pitchFamily="34" charset="-120"/>
              </a:rPr>
              <a:t>capital expenditure</a:t>
            </a:r>
            <a:r>
              <a:rPr lang="en-US" sz="1250" dirty="0">
                <a:solidFill>
                  <a:srgbClr val="D6E5EF"/>
                </a:solidFill>
                <a:latin typeface="Roboto" pitchFamily="34" charset="0"/>
                <a:ea typeface="Roboto" pitchFamily="34" charset="-122"/>
                <a:cs typeface="Roboto" pitchFamily="34" charset="-120"/>
              </a:rPr>
              <a:t> on physical servers, licenses, and data centers. Google Cloud converts this to </a:t>
            </a:r>
            <a:r>
              <a:rPr lang="en-US" sz="1250" b="1" dirty="0">
                <a:solidFill>
                  <a:srgbClr val="D6E5EF"/>
                </a:solidFill>
                <a:latin typeface="Roboto" pitchFamily="34" charset="0"/>
                <a:ea typeface="Roboto" pitchFamily="34" charset="-122"/>
                <a:cs typeface="Roboto" pitchFamily="34" charset="-120"/>
              </a:rPr>
              <a:t>operational expenditure</a:t>
            </a:r>
            <a:r>
              <a:rPr lang="en-US" sz="1250" dirty="0">
                <a:solidFill>
                  <a:srgbClr val="D6E5EF"/>
                </a:solidFill>
                <a:latin typeface="Roboto" pitchFamily="34" charset="0"/>
                <a:ea typeface="Roboto" pitchFamily="34" charset="-122"/>
                <a:cs typeface="Roboto" pitchFamily="34" charset="-120"/>
              </a:rPr>
              <a:t> — pay only for what you use, billed per request or per second of compute time. Dramatically reduces upfront investment and financial risk.</a:t>
            </a:r>
            <a:endParaRPr lang="en-US" sz="1250" dirty="0"/>
          </a:p>
        </p:txBody>
      </p:sp>
      <p:sp>
        <p:nvSpPr>
          <p:cNvPr id="10" name="Shape 8"/>
          <p:cNvSpPr/>
          <p:nvPr/>
        </p:nvSpPr>
        <p:spPr>
          <a:xfrm>
            <a:off x="9496663" y="2581513"/>
            <a:ext cx="4106823" cy="2025610"/>
          </a:xfrm>
          <a:prstGeom prst="roundRect">
            <a:avLst>
              <a:gd name="adj" fmla="val 1181"/>
            </a:avLst>
          </a:prstGeom>
          <a:solidFill>
            <a:srgbClr val="3F4652"/>
          </a:solidFill>
          <a:ln/>
        </p:spPr>
      </p:sp>
      <p:sp>
        <p:nvSpPr>
          <p:cNvPr id="11" name="Text 9"/>
          <p:cNvSpPr/>
          <p:nvPr/>
        </p:nvSpPr>
        <p:spPr>
          <a:xfrm>
            <a:off x="9656088" y="2740938"/>
            <a:ext cx="2410658" cy="249079"/>
          </a:xfrm>
          <a:prstGeom prst="rect">
            <a:avLst/>
          </a:prstGeom>
          <a:noFill/>
          <a:ln/>
        </p:spPr>
        <p:txBody>
          <a:bodyPr wrap="none" lIns="0" tIns="0" rIns="0" bIns="0" rtlCol="0" anchor="t"/>
          <a:lstStyle/>
          <a:p>
            <a:pPr marL="0" indent="0" algn="l">
              <a:lnSpc>
                <a:spcPts val="1950"/>
              </a:lnSpc>
              <a:buNone/>
            </a:pPr>
            <a:r>
              <a:rPr lang="en-US" sz="1550" dirty="0">
                <a:solidFill>
                  <a:srgbClr val="D6E5EF"/>
                </a:solidFill>
                <a:latin typeface="Roboto Slab" pitchFamily="34" charset="0"/>
                <a:ea typeface="Roboto Slab" pitchFamily="34" charset="-122"/>
                <a:cs typeface="Roboto Slab" pitchFamily="34" charset="-120"/>
              </a:rPr>
              <a:t>Auto-Scaling &amp; Reliability</a:t>
            </a:r>
            <a:endParaRPr lang="en-US" sz="1550" dirty="0"/>
          </a:p>
        </p:txBody>
      </p:sp>
      <p:sp>
        <p:nvSpPr>
          <p:cNvPr id="12" name="Text 10"/>
          <p:cNvSpPr/>
          <p:nvPr/>
        </p:nvSpPr>
        <p:spPr>
          <a:xfrm>
            <a:off x="9656088" y="3066812"/>
            <a:ext cx="3787973" cy="1380887"/>
          </a:xfrm>
          <a:prstGeom prst="rect">
            <a:avLst/>
          </a:prstGeom>
          <a:noFill/>
          <a:ln/>
        </p:spPr>
        <p:txBody>
          <a:bodyPr wrap="square" lIns="0" tIns="0" rIns="0" bIns="0" rtlCol="0" anchor="t"/>
          <a:lstStyle/>
          <a:p>
            <a:pPr marL="0" indent="0" algn="l">
              <a:lnSpc>
                <a:spcPts val="1800"/>
              </a:lnSpc>
              <a:buNone/>
            </a:pPr>
            <a:r>
              <a:rPr lang="en-US" sz="1250" dirty="0">
                <a:solidFill>
                  <a:srgbClr val="D6E5EF"/>
                </a:solidFill>
                <a:latin typeface="Roboto" pitchFamily="34" charset="0"/>
                <a:ea typeface="Roboto" pitchFamily="34" charset="-122"/>
                <a:cs typeface="Roboto" pitchFamily="34" charset="-120"/>
              </a:rPr>
              <a:t>App Engine dynamically adjusts the number of running instances based on real-time traffic. During Tech Fest registration, thousands of students may hit the system simultaneously — </a:t>
            </a:r>
            <a:r>
              <a:rPr lang="en-US" sz="1250" b="1" dirty="0">
                <a:solidFill>
                  <a:srgbClr val="D6E5EF"/>
                </a:solidFill>
                <a:latin typeface="Roboto" pitchFamily="34" charset="0"/>
                <a:ea typeface="Roboto" pitchFamily="34" charset="-122"/>
                <a:cs typeface="Roboto" pitchFamily="34" charset="-120"/>
              </a:rPr>
              <a:t>auto-scaling ensures zero downtime</a:t>
            </a:r>
            <a:r>
              <a:rPr lang="en-US" sz="1250" dirty="0">
                <a:solidFill>
                  <a:srgbClr val="D6E5EF"/>
                </a:solidFill>
                <a:latin typeface="Roboto" pitchFamily="34" charset="0"/>
                <a:ea typeface="Roboto" pitchFamily="34" charset="-122"/>
                <a:cs typeface="Roboto" pitchFamily="34" charset="-120"/>
              </a:rPr>
              <a:t> and consistent response times without any manual intervention from IT staff.</a:t>
            </a:r>
            <a:endParaRPr lang="en-US" sz="1250" dirty="0"/>
          </a:p>
        </p:txBody>
      </p:sp>
      <p:sp>
        <p:nvSpPr>
          <p:cNvPr id="13" name="Shape 11"/>
          <p:cNvSpPr/>
          <p:nvPr/>
        </p:nvSpPr>
        <p:spPr>
          <a:xfrm>
            <a:off x="1026795" y="4751189"/>
            <a:ext cx="4106823" cy="2255758"/>
          </a:xfrm>
          <a:prstGeom prst="roundRect">
            <a:avLst>
              <a:gd name="adj" fmla="val 1061"/>
            </a:avLst>
          </a:prstGeom>
          <a:solidFill>
            <a:srgbClr val="3F4652"/>
          </a:solidFill>
          <a:ln/>
        </p:spPr>
      </p:sp>
      <p:sp>
        <p:nvSpPr>
          <p:cNvPr id="14" name="Text 12"/>
          <p:cNvSpPr/>
          <p:nvPr/>
        </p:nvSpPr>
        <p:spPr>
          <a:xfrm>
            <a:off x="1186220" y="4910614"/>
            <a:ext cx="2200156" cy="249079"/>
          </a:xfrm>
          <a:prstGeom prst="rect">
            <a:avLst/>
          </a:prstGeom>
          <a:noFill/>
          <a:ln/>
        </p:spPr>
        <p:txBody>
          <a:bodyPr wrap="none" lIns="0" tIns="0" rIns="0" bIns="0" rtlCol="0" anchor="t"/>
          <a:lstStyle/>
          <a:p>
            <a:pPr marL="0" indent="0" algn="l">
              <a:lnSpc>
                <a:spcPts val="1950"/>
              </a:lnSpc>
              <a:buNone/>
            </a:pPr>
            <a:r>
              <a:rPr lang="en-US" sz="1550" dirty="0">
                <a:solidFill>
                  <a:srgbClr val="D6E5EF"/>
                </a:solidFill>
                <a:latin typeface="Roboto Slab" pitchFamily="34" charset="0"/>
                <a:ea typeface="Roboto Slab" pitchFamily="34" charset="-122"/>
                <a:cs typeface="Roboto Slab" pitchFamily="34" charset="-120"/>
              </a:rPr>
              <a:t>Serverless Architecture</a:t>
            </a:r>
            <a:endParaRPr lang="en-US" sz="1550" dirty="0"/>
          </a:p>
        </p:txBody>
      </p:sp>
      <p:sp>
        <p:nvSpPr>
          <p:cNvPr id="15" name="Text 13"/>
          <p:cNvSpPr/>
          <p:nvPr/>
        </p:nvSpPr>
        <p:spPr>
          <a:xfrm>
            <a:off x="1186220" y="5236488"/>
            <a:ext cx="3787973" cy="1380887"/>
          </a:xfrm>
          <a:prstGeom prst="rect">
            <a:avLst/>
          </a:prstGeom>
          <a:noFill/>
          <a:ln/>
        </p:spPr>
        <p:txBody>
          <a:bodyPr wrap="square" lIns="0" tIns="0" rIns="0" bIns="0" rtlCol="0" anchor="t"/>
          <a:lstStyle/>
          <a:p>
            <a:pPr marL="0" indent="0" algn="l">
              <a:lnSpc>
                <a:spcPts val="1800"/>
              </a:lnSpc>
              <a:buNone/>
            </a:pPr>
            <a:r>
              <a:rPr lang="en-US" sz="1250" dirty="0">
                <a:solidFill>
                  <a:srgbClr val="D6E5EF"/>
                </a:solidFill>
                <a:latin typeface="Roboto" pitchFamily="34" charset="0"/>
                <a:ea typeface="Roboto" pitchFamily="34" charset="-122"/>
                <a:cs typeface="Roboto" pitchFamily="34" charset="-120"/>
              </a:rPr>
              <a:t>Cloud Functions execute only when called and shut down immediately after. This means </a:t>
            </a:r>
            <a:r>
              <a:rPr lang="en-US" sz="1250" b="1" dirty="0">
                <a:solidFill>
                  <a:srgbClr val="D6E5EF"/>
                </a:solidFill>
                <a:latin typeface="Roboto" pitchFamily="34" charset="0"/>
                <a:ea typeface="Roboto" pitchFamily="34" charset="-122"/>
                <a:cs typeface="Roboto" pitchFamily="34" charset="-120"/>
              </a:rPr>
              <a:t>no idle server costs</a:t>
            </a:r>
            <a:r>
              <a:rPr lang="en-US" sz="1250" dirty="0">
                <a:solidFill>
                  <a:srgbClr val="D6E5EF"/>
                </a:solidFill>
                <a:latin typeface="Roboto" pitchFamily="34" charset="0"/>
                <a:ea typeface="Roboto" pitchFamily="34" charset="-122"/>
                <a:cs typeface="Roboto" pitchFamily="34" charset="-120"/>
              </a:rPr>
              <a:t>, no patching cycles, and no capacity planning. The university pays only for actual compute used per registration request — often fractions of a cent per transaction.</a:t>
            </a:r>
            <a:endParaRPr lang="en-US" sz="1250" dirty="0"/>
          </a:p>
        </p:txBody>
      </p:sp>
      <p:sp>
        <p:nvSpPr>
          <p:cNvPr id="16" name="Shape 14"/>
          <p:cNvSpPr/>
          <p:nvPr/>
        </p:nvSpPr>
        <p:spPr>
          <a:xfrm>
            <a:off x="5261729" y="4751189"/>
            <a:ext cx="4106823" cy="2255758"/>
          </a:xfrm>
          <a:prstGeom prst="roundRect">
            <a:avLst>
              <a:gd name="adj" fmla="val 1061"/>
            </a:avLst>
          </a:prstGeom>
          <a:solidFill>
            <a:srgbClr val="3F4652"/>
          </a:solidFill>
          <a:ln/>
        </p:spPr>
      </p:sp>
      <p:sp>
        <p:nvSpPr>
          <p:cNvPr id="17" name="Text 15"/>
          <p:cNvSpPr/>
          <p:nvPr/>
        </p:nvSpPr>
        <p:spPr>
          <a:xfrm>
            <a:off x="5421154" y="4910614"/>
            <a:ext cx="2222183" cy="249079"/>
          </a:xfrm>
          <a:prstGeom prst="rect">
            <a:avLst/>
          </a:prstGeom>
          <a:noFill/>
          <a:ln/>
        </p:spPr>
        <p:txBody>
          <a:bodyPr wrap="none" lIns="0" tIns="0" rIns="0" bIns="0" rtlCol="0" anchor="t"/>
          <a:lstStyle/>
          <a:p>
            <a:pPr marL="0" indent="0" algn="l">
              <a:lnSpc>
                <a:spcPts val="1950"/>
              </a:lnSpc>
              <a:buNone/>
            </a:pPr>
            <a:r>
              <a:rPr lang="en-US" sz="1550" dirty="0">
                <a:solidFill>
                  <a:srgbClr val="D6E5EF"/>
                </a:solidFill>
                <a:latin typeface="Roboto Slab" pitchFamily="34" charset="0"/>
                <a:ea typeface="Roboto Slab" pitchFamily="34" charset="-122"/>
                <a:cs typeface="Roboto Slab" pitchFamily="34" charset="-120"/>
              </a:rPr>
              <a:t>Structured Data Storage</a:t>
            </a:r>
            <a:endParaRPr lang="en-US" sz="1550" dirty="0"/>
          </a:p>
        </p:txBody>
      </p:sp>
      <p:sp>
        <p:nvSpPr>
          <p:cNvPr id="18" name="Text 16"/>
          <p:cNvSpPr/>
          <p:nvPr/>
        </p:nvSpPr>
        <p:spPr>
          <a:xfrm>
            <a:off x="5421154" y="5236488"/>
            <a:ext cx="3787973" cy="1611035"/>
          </a:xfrm>
          <a:prstGeom prst="rect">
            <a:avLst/>
          </a:prstGeom>
          <a:noFill/>
          <a:ln/>
        </p:spPr>
        <p:txBody>
          <a:bodyPr wrap="square" lIns="0" tIns="0" rIns="0" bIns="0" rtlCol="0" anchor="t"/>
          <a:lstStyle/>
          <a:p>
            <a:pPr marL="0" indent="0" algn="l">
              <a:lnSpc>
                <a:spcPts val="1800"/>
              </a:lnSpc>
              <a:buNone/>
            </a:pPr>
            <a:r>
              <a:rPr lang="en-US" sz="1250" dirty="0">
                <a:solidFill>
                  <a:srgbClr val="D6E5EF"/>
                </a:solidFill>
                <a:latin typeface="Roboto" pitchFamily="34" charset="0"/>
                <a:ea typeface="Roboto" pitchFamily="34" charset="-122"/>
                <a:cs typeface="Roboto" pitchFamily="34" charset="-120"/>
              </a:rPr>
              <a:t>Cloud SQL uses a </a:t>
            </a:r>
            <a:r>
              <a:rPr lang="en-US" sz="1250" b="1" dirty="0">
                <a:solidFill>
                  <a:srgbClr val="D6E5EF"/>
                </a:solidFill>
                <a:latin typeface="Roboto" pitchFamily="34" charset="0"/>
                <a:ea typeface="Roboto" pitchFamily="34" charset="-122"/>
                <a:cs typeface="Roboto" pitchFamily="34" charset="-120"/>
              </a:rPr>
              <a:t>relational model</a:t>
            </a:r>
            <a:r>
              <a:rPr lang="en-US" sz="1250" dirty="0">
                <a:solidFill>
                  <a:srgbClr val="D6E5EF"/>
                </a:solidFill>
                <a:latin typeface="Roboto" pitchFamily="34" charset="0"/>
                <a:ea typeface="Roboto" pitchFamily="34" charset="-122"/>
                <a:cs typeface="Roboto" pitchFamily="34" charset="-120"/>
              </a:rPr>
              <a:t> with defined schemas — ideal for structured entities like Student (ID, name, email), Event (title, date, capacity), and Registration (student_id, event_id, timestamp). SQL queries enable fast lookups, joins, and reporting on registration data without complex transformation pipelines.</a:t>
            </a:r>
            <a:endParaRPr lang="en-US" sz="1250" dirty="0"/>
          </a:p>
        </p:txBody>
      </p:sp>
      <p:sp>
        <p:nvSpPr>
          <p:cNvPr id="19" name="Shape 17"/>
          <p:cNvSpPr/>
          <p:nvPr/>
        </p:nvSpPr>
        <p:spPr>
          <a:xfrm>
            <a:off x="9496663" y="4751189"/>
            <a:ext cx="4106823" cy="2255758"/>
          </a:xfrm>
          <a:prstGeom prst="roundRect">
            <a:avLst>
              <a:gd name="adj" fmla="val 1061"/>
            </a:avLst>
          </a:prstGeom>
          <a:solidFill>
            <a:srgbClr val="3F4652"/>
          </a:solidFill>
          <a:ln/>
        </p:spPr>
      </p:sp>
      <p:sp>
        <p:nvSpPr>
          <p:cNvPr id="20" name="Text 18"/>
          <p:cNvSpPr/>
          <p:nvPr/>
        </p:nvSpPr>
        <p:spPr>
          <a:xfrm>
            <a:off x="9656088" y="4910614"/>
            <a:ext cx="1993583" cy="249079"/>
          </a:xfrm>
          <a:prstGeom prst="rect">
            <a:avLst/>
          </a:prstGeom>
          <a:noFill/>
          <a:ln/>
        </p:spPr>
        <p:txBody>
          <a:bodyPr wrap="none" lIns="0" tIns="0" rIns="0" bIns="0" rtlCol="0" anchor="t"/>
          <a:lstStyle/>
          <a:p>
            <a:pPr marL="0" indent="0" algn="l">
              <a:lnSpc>
                <a:spcPts val="1950"/>
              </a:lnSpc>
              <a:buNone/>
            </a:pPr>
            <a:r>
              <a:rPr lang="en-US" sz="1550" dirty="0">
                <a:solidFill>
                  <a:srgbClr val="D6E5EF"/>
                </a:solidFill>
                <a:latin typeface="Roboto Slab" pitchFamily="34" charset="0"/>
                <a:ea typeface="Roboto Slab" pitchFamily="34" charset="-122"/>
                <a:cs typeface="Roboto Slab" pitchFamily="34" charset="-120"/>
              </a:rPr>
              <a:t>Security by Design</a:t>
            </a:r>
            <a:endParaRPr lang="en-US" sz="1550" dirty="0"/>
          </a:p>
        </p:txBody>
      </p:sp>
      <p:sp>
        <p:nvSpPr>
          <p:cNvPr id="21" name="Text 19"/>
          <p:cNvSpPr/>
          <p:nvPr/>
        </p:nvSpPr>
        <p:spPr>
          <a:xfrm>
            <a:off x="9656088" y="5236488"/>
            <a:ext cx="3787973" cy="1380887"/>
          </a:xfrm>
          <a:prstGeom prst="rect">
            <a:avLst/>
          </a:prstGeom>
          <a:noFill/>
          <a:ln/>
        </p:spPr>
        <p:txBody>
          <a:bodyPr wrap="square" lIns="0" tIns="0" rIns="0" bIns="0" rtlCol="0" anchor="t"/>
          <a:lstStyle/>
          <a:p>
            <a:pPr marL="0" indent="0" algn="l">
              <a:lnSpc>
                <a:spcPts val="1800"/>
              </a:lnSpc>
              <a:buNone/>
            </a:pPr>
            <a:r>
              <a:rPr lang="en-US" sz="1250" b="1" dirty="0">
                <a:solidFill>
                  <a:srgbClr val="D6E5EF"/>
                </a:solidFill>
                <a:latin typeface="Roboto" pitchFamily="34" charset="0"/>
                <a:ea typeface="Roboto" pitchFamily="34" charset="-122"/>
                <a:cs typeface="Roboto" pitchFamily="34" charset="-120"/>
              </a:rPr>
              <a:t>IAM policies</a:t>
            </a:r>
            <a:r>
              <a:rPr lang="en-US" sz="1250" dirty="0">
                <a:solidFill>
                  <a:srgbClr val="D6E5EF"/>
                </a:solidFill>
                <a:latin typeface="Roboto" pitchFamily="34" charset="0"/>
                <a:ea typeface="Roboto" pitchFamily="34" charset="-122"/>
                <a:cs typeface="Roboto" pitchFamily="34" charset="-120"/>
              </a:rPr>
              <a:t> enforce the principle of least privilege at every layer. Students can only read event data and submit registrations. Admins manage event records. Cloud Functions use dedicated service accounts with scoped permissions — no credential sharing, no over-privileged access.</a:t>
            </a:r>
            <a:endParaRPr lang="en-US" sz="1250" dirty="0"/>
          </a:p>
        </p:txBody>
      </p:sp>
      <p:sp>
        <p:nvSpPr>
          <p:cNvPr id="22" name="Rectangle 21">
            <a:extLst>
              <a:ext uri="{FF2B5EF4-FFF2-40B4-BE49-F238E27FC236}">
                <a16:creationId xmlns:a16="http://schemas.microsoft.com/office/drawing/2014/main" id="{FC16B6E3-27E6-0501-7EDA-FC58482AD294}"/>
              </a:ext>
            </a:extLst>
          </p:cNvPr>
          <p:cNvSpPr/>
          <p:nvPr/>
        </p:nvSpPr>
        <p:spPr>
          <a:xfrm>
            <a:off x="12782550" y="7686675"/>
            <a:ext cx="1752600" cy="460296"/>
          </a:xfrm>
          <a:prstGeom prst="rect">
            <a:avLst/>
          </a:prstGeom>
          <a:solidFill>
            <a:srgbClr val="2027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2860000" y="1139666"/>
            <a:ext cx="4551283" cy="353139"/>
          </a:xfrm>
          <a:prstGeom prst="rect">
            <a:avLst/>
          </a:prstGeom>
          <a:noFill/>
          <a:ln/>
        </p:spPr>
        <p:txBody>
          <a:bodyPr wrap="none" lIns="0" tIns="0" rIns="0" bIns="0" rtlCol="0" anchor="t"/>
          <a:lstStyle/>
          <a:p>
            <a:pPr marL="0" indent="0" algn="l">
              <a:lnSpc>
                <a:spcPts val="2750"/>
              </a:lnSpc>
              <a:buNone/>
            </a:pPr>
            <a:r>
              <a:rPr lang="en-US" sz="2200" dirty="0">
                <a:solidFill>
                  <a:srgbClr val="76B9FF"/>
                </a:solidFill>
                <a:latin typeface="Roboto Slab" pitchFamily="34" charset="0"/>
                <a:ea typeface="Roboto Slab" pitchFamily="34" charset="-122"/>
                <a:cs typeface="Roboto Slab" pitchFamily="34" charset="-120"/>
              </a:rPr>
              <a:t>Future Enhancements &amp; Roadmap</a:t>
            </a:r>
            <a:endParaRPr lang="en-US" sz="2200" dirty="0"/>
          </a:p>
        </p:txBody>
      </p:sp>
      <p:sp>
        <p:nvSpPr>
          <p:cNvPr id="3" name="Text 1"/>
          <p:cNvSpPr/>
          <p:nvPr/>
        </p:nvSpPr>
        <p:spPr>
          <a:xfrm>
            <a:off x="2860000" y="1621393"/>
            <a:ext cx="8910399" cy="283607"/>
          </a:xfrm>
          <a:prstGeom prst="rect">
            <a:avLst/>
          </a:prstGeom>
          <a:noFill/>
          <a:ln/>
        </p:spPr>
        <p:txBody>
          <a:bodyPr wrap="square" lIns="0" tIns="0" rIns="0" bIns="0" rtlCol="0" anchor="t"/>
          <a:lstStyle/>
          <a:p>
            <a:pPr marL="0" indent="0" algn="l">
              <a:lnSpc>
                <a:spcPts val="1100"/>
              </a:lnSpc>
              <a:buNone/>
            </a:pPr>
            <a:r>
              <a:rPr lang="en-US" sz="850" dirty="0">
                <a:solidFill>
                  <a:srgbClr val="D6E5EF"/>
                </a:solidFill>
                <a:latin typeface="Roboto" pitchFamily="34" charset="0"/>
                <a:ea typeface="Roboto" pitchFamily="34" charset="-122"/>
                <a:cs typeface="Roboto" pitchFamily="34" charset="-120"/>
              </a:rPr>
              <a:t>The current system delivers a robust, production-ready event registration experience. The next evolution of the platform will expand its capabilities into </a:t>
            </a:r>
            <a:r>
              <a:rPr lang="en-US" sz="850" b="1" dirty="0">
                <a:solidFill>
                  <a:srgbClr val="D6E5EF"/>
                </a:solidFill>
                <a:latin typeface="Roboto" pitchFamily="34" charset="0"/>
                <a:ea typeface="Roboto" pitchFamily="34" charset="-122"/>
                <a:cs typeface="Roboto" pitchFamily="34" charset="-120"/>
              </a:rPr>
              <a:t>real-time analytics, AI-powered personalization, and mobile accessibility</a:t>
            </a:r>
            <a:r>
              <a:rPr lang="en-US" sz="850" dirty="0">
                <a:solidFill>
                  <a:srgbClr val="D6E5EF"/>
                </a:solidFill>
                <a:latin typeface="Roboto" pitchFamily="34" charset="0"/>
                <a:ea typeface="Roboto" pitchFamily="34" charset="-122"/>
                <a:cs typeface="Roboto" pitchFamily="34" charset="-120"/>
              </a:rPr>
              <a:t> — transforming it from a registration tool into a full-featured university engagement platform.</a:t>
            </a:r>
            <a:endParaRPr lang="en-US" sz="850" dirty="0"/>
          </a:p>
        </p:txBody>
      </p:sp>
      <p:sp>
        <p:nvSpPr>
          <p:cNvPr id="4" name="Shape 2"/>
          <p:cNvSpPr/>
          <p:nvPr/>
        </p:nvSpPr>
        <p:spPr>
          <a:xfrm>
            <a:off x="7307580" y="1977271"/>
            <a:ext cx="15240" cy="3130272"/>
          </a:xfrm>
          <a:prstGeom prst="roundRect">
            <a:avLst>
              <a:gd name="adj" fmla="val 111216"/>
            </a:avLst>
          </a:prstGeom>
          <a:solidFill>
            <a:srgbClr val="585F6B"/>
          </a:solidFill>
          <a:ln/>
        </p:spPr>
      </p:sp>
      <p:sp>
        <p:nvSpPr>
          <p:cNvPr id="5" name="Shape 3"/>
          <p:cNvSpPr/>
          <p:nvPr/>
        </p:nvSpPr>
        <p:spPr>
          <a:xfrm>
            <a:off x="6864370" y="2096691"/>
            <a:ext cx="338971" cy="15240"/>
          </a:xfrm>
          <a:prstGeom prst="roundRect">
            <a:avLst>
              <a:gd name="adj" fmla="val 111216"/>
            </a:avLst>
          </a:prstGeom>
          <a:solidFill>
            <a:srgbClr val="585F6B"/>
          </a:solidFill>
          <a:ln/>
        </p:spPr>
      </p:sp>
      <p:sp>
        <p:nvSpPr>
          <p:cNvPr id="6" name="Shape 4"/>
          <p:cNvSpPr/>
          <p:nvPr/>
        </p:nvSpPr>
        <p:spPr>
          <a:xfrm>
            <a:off x="7188101" y="1977271"/>
            <a:ext cx="254198" cy="254198"/>
          </a:xfrm>
          <a:prstGeom prst="roundRect">
            <a:avLst>
              <a:gd name="adj" fmla="val 6668"/>
            </a:avLst>
          </a:prstGeom>
          <a:solidFill>
            <a:srgbClr val="3F4652"/>
          </a:solidFill>
          <a:ln/>
        </p:spPr>
      </p:sp>
      <p:sp>
        <p:nvSpPr>
          <p:cNvPr id="7" name="Text 5"/>
          <p:cNvSpPr/>
          <p:nvPr/>
        </p:nvSpPr>
        <p:spPr>
          <a:xfrm>
            <a:off x="7230428" y="1998405"/>
            <a:ext cx="169426" cy="211812"/>
          </a:xfrm>
          <a:prstGeom prst="rect">
            <a:avLst/>
          </a:prstGeom>
          <a:noFill/>
          <a:ln/>
        </p:spPr>
        <p:txBody>
          <a:bodyPr wrap="none" lIns="0" tIns="0" rIns="0" bIns="0" rtlCol="0" anchor="t"/>
          <a:lstStyle/>
          <a:p>
            <a:pPr marL="0" indent="0" algn="ctr">
              <a:lnSpc>
                <a:spcPts val="1300"/>
              </a:lnSpc>
              <a:buNone/>
            </a:pPr>
            <a:r>
              <a:rPr lang="en-US" sz="1300" dirty="0">
                <a:solidFill>
                  <a:srgbClr val="D6E5EF"/>
                </a:solidFill>
                <a:latin typeface="Roboto Slab" pitchFamily="34" charset="0"/>
                <a:ea typeface="Roboto Slab" pitchFamily="34" charset="-122"/>
                <a:cs typeface="Roboto Slab" pitchFamily="34" charset="-120"/>
              </a:rPr>
              <a:t>1</a:t>
            </a:r>
            <a:endParaRPr lang="en-US" sz="1300" dirty="0"/>
          </a:p>
        </p:txBody>
      </p:sp>
      <p:sp>
        <p:nvSpPr>
          <p:cNvPr id="8" name="Text 6"/>
          <p:cNvSpPr/>
          <p:nvPr/>
        </p:nvSpPr>
        <p:spPr>
          <a:xfrm>
            <a:off x="5326142" y="2016085"/>
            <a:ext cx="1424107" cy="176451"/>
          </a:xfrm>
          <a:prstGeom prst="rect">
            <a:avLst/>
          </a:prstGeom>
          <a:noFill/>
          <a:ln/>
        </p:spPr>
        <p:txBody>
          <a:bodyPr wrap="none" lIns="0" tIns="0" rIns="0" bIns="0" rtlCol="0" anchor="t"/>
          <a:lstStyle/>
          <a:p>
            <a:pPr marL="0" indent="0" algn="r">
              <a:lnSpc>
                <a:spcPts val="1350"/>
              </a:lnSpc>
              <a:buNone/>
            </a:pPr>
            <a:r>
              <a:rPr lang="en-US" sz="1100" dirty="0">
                <a:solidFill>
                  <a:srgbClr val="D6E5EF"/>
                </a:solidFill>
                <a:latin typeface="Roboto Slab" pitchFamily="34" charset="0"/>
                <a:ea typeface="Roboto Slab" pitchFamily="34" charset="-122"/>
                <a:cs typeface="Roboto Slab" pitchFamily="34" charset="-120"/>
              </a:rPr>
              <a:t>Phase 1: Notifications</a:t>
            </a:r>
            <a:endParaRPr lang="en-US" sz="1100" dirty="0"/>
          </a:p>
        </p:txBody>
      </p:sp>
      <p:sp>
        <p:nvSpPr>
          <p:cNvPr id="9" name="Text 7"/>
          <p:cNvSpPr/>
          <p:nvPr/>
        </p:nvSpPr>
        <p:spPr>
          <a:xfrm>
            <a:off x="2860000" y="2231112"/>
            <a:ext cx="3890248" cy="567214"/>
          </a:xfrm>
          <a:prstGeom prst="rect">
            <a:avLst/>
          </a:prstGeom>
          <a:noFill/>
          <a:ln/>
        </p:spPr>
        <p:txBody>
          <a:bodyPr wrap="square" lIns="0" tIns="0" rIns="0" bIns="0" rtlCol="0" anchor="t"/>
          <a:lstStyle/>
          <a:p>
            <a:pPr marL="0" indent="0" algn="r">
              <a:lnSpc>
                <a:spcPts val="1100"/>
              </a:lnSpc>
              <a:buNone/>
            </a:pPr>
            <a:r>
              <a:rPr lang="en-US" sz="850" dirty="0">
                <a:solidFill>
                  <a:srgbClr val="D6E5EF"/>
                </a:solidFill>
                <a:latin typeface="Roboto" pitchFamily="34" charset="0"/>
                <a:ea typeface="Roboto" pitchFamily="34" charset="-122"/>
                <a:cs typeface="Roboto" pitchFamily="34" charset="-120"/>
              </a:rPr>
              <a:t>Integrate </a:t>
            </a:r>
            <a:r>
              <a:rPr lang="en-US" sz="850" b="1" dirty="0">
                <a:solidFill>
                  <a:srgbClr val="D6E5EF"/>
                </a:solidFill>
                <a:latin typeface="Roboto" pitchFamily="34" charset="0"/>
                <a:ea typeface="Roboto" pitchFamily="34" charset="-122"/>
                <a:cs typeface="Roboto" pitchFamily="34" charset="-120"/>
              </a:rPr>
              <a:t>Google Cloud Pub/Sub</a:t>
            </a:r>
            <a:r>
              <a:rPr lang="en-US" sz="850" dirty="0">
                <a:solidFill>
                  <a:srgbClr val="D6E5EF"/>
                </a:solidFill>
                <a:latin typeface="Roboto" pitchFamily="34" charset="0"/>
                <a:ea typeface="Roboto" pitchFamily="34" charset="-122"/>
                <a:cs typeface="Roboto" pitchFamily="34" charset="-120"/>
              </a:rPr>
              <a:t> for event-driven notifications. Students receive real-time email and push alerts for registration confirmations, event reminders, waitlist updates, and cancellations — all triggered automatically by system events.</a:t>
            </a:r>
            <a:endParaRPr lang="en-US" sz="850" dirty="0"/>
          </a:p>
        </p:txBody>
      </p:sp>
      <p:sp>
        <p:nvSpPr>
          <p:cNvPr id="10" name="Shape 8"/>
          <p:cNvSpPr/>
          <p:nvPr/>
        </p:nvSpPr>
        <p:spPr>
          <a:xfrm>
            <a:off x="7427059" y="2677239"/>
            <a:ext cx="338971" cy="15240"/>
          </a:xfrm>
          <a:prstGeom prst="roundRect">
            <a:avLst>
              <a:gd name="adj" fmla="val 111216"/>
            </a:avLst>
          </a:prstGeom>
          <a:solidFill>
            <a:srgbClr val="585F6B"/>
          </a:solidFill>
          <a:ln/>
        </p:spPr>
      </p:sp>
      <p:sp>
        <p:nvSpPr>
          <p:cNvPr id="11" name="Shape 9"/>
          <p:cNvSpPr/>
          <p:nvPr/>
        </p:nvSpPr>
        <p:spPr>
          <a:xfrm>
            <a:off x="7188101" y="2557820"/>
            <a:ext cx="254198" cy="254198"/>
          </a:xfrm>
          <a:prstGeom prst="roundRect">
            <a:avLst>
              <a:gd name="adj" fmla="val 6668"/>
            </a:avLst>
          </a:prstGeom>
          <a:solidFill>
            <a:srgbClr val="3F4652"/>
          </a:solidFill>
          <a:ln/>
        </p:spPr>
      </p:sp>
      <p:sp>
        <p:nvSpPr>
          <p:cNvPr id="12" name="Text 10"/>
          <p:cNvSpPr/>
          <p:nvPr/>
        </p:nvSpPr>
        <p:spPr>
          <a:xfrm>
            <a:off x="7230428" y="2578953"/>
            <a:ext cx="169426" cy="211812"/>
          </a:xfrm>
          <a:prstGeom prst="rect">
            <a:avLst/>
          </a:prstGeom>
          <a:noFill/>
          <a:ln/>
        </p:spPr>
        <p:txBody>
          <a:bodyPr wrap="none" lIns="0" tIns="0" rIns="0" bIns="0" rtlCol="0" anchor="t"/>
          <a:lstStyle/>
          <a:p>
            <a:pPr marL="0" indent="0" algn="ctr">
              <a:lnSpc>
                <a:spcPts val="1300"/>
              </a:lnSpc>
              <a:buNone/>
            </a:pPr>
            <a:r>
              <a:rPr lang="en-US" sz="1300" dirty="0">
                <a:solidFill>
                  <a:srgbClr val="D6E5EF"/>
                </a:solidFill>
                <a:latin typeface="Roboto Slab" pitchFamily="34" charset="0"/>
                <a:ea typeface="Roboto Slab" pitchFamily="34" charset="-122"/>
                <a:cs typeface="Roboto Slab" pitchFamily="34" charset="-120"/>
              </a:rPr>
              <a:t>2</a:t>
            </a:r>
            <a:endParaRPr lang="en-US" sz="1300" dirty="0"/>
          </a:p>
        </p:txBody>
      </p:sp>
      <p:sp>
        <p:nvSpPr>
          <p:cNvPr id="13" name="Text 11"/>
          <p:cNvSpPr/>
          <p:nvPr/>
        </p:nvSpPr>
        <p:spPr>
          <a:xfrm>
            <a:off x="7880152" y="2596634"/>
            <a:ext cx="1412438" cy="176451"/>
          </a:xfrm>
          <a:prstGeom prst="rect">
            <a:avLst/>
          </a:prstGeom>
          <a:noFill/>
          <a:ln/>
        </p:spPr>
        <p:txBody>
          <a:bodyPr wrap="none" lIns="0" tIns="0" rIns="0" bIns="0" rtlCol="0" anchor="t"/>
          <a:lstStyle/>
          <a:p>
            <a:pPr marL="0" indent="0" algn="l">
              <a:lnSpc>
                <a:spcPts val="1350"/>
              </a:lnSpc>
              <a:buNone/>
            </a:pPr>
            <a:r>
              <a:rPr lang="en-US" sz="1100" dirty="0">
                <a:solidFill>
                  <a:srgbClr val="D6E5EF"/>
                </a:solidFill>
                <a:latin typeface="Roboto Slab" pitchFamily="34" charset="0"/>
                <a:ea typeface="Roboto Slab" pitchFamily="34" charset="-122"/>
                <a:cs typeface="Roboto Slab" pitchFamily="34" charset="-120"/>
              </a:rPr>
              <a:t>Phase 2: Analytics</a:t>
            </a:r>
            <a:endParaRPr lang="en-US" sz="1100" dirty="0"/>
          </a:p>
        </p:txBody>
      </p:sp>
      <p:sp>
        <p:nvSpPr>
          <p:cNvPr id="14" name="Text 12"/>
          <p:cNvSpPr/>
          <p:nvPr/>
        </p:nvSpPr>
        <p:spPr>
          <a:xfrm>
            <a:off x="7880152" y="2811661"/>
            <a:ext cx="3890248" cy="567214"/>
          </a:xfrm>
          <a:prstGeom prst="rect">
            <a:avLst/>
          </a:prstGeom>
          <a:noFill/>
          <a:ln/>
        </p:spPr>
        <p:txBody>
          <a:bodyPr wrap="square" lIns="0" tIns="0" rIns="0" bIns="0" rtlCol="0" anchor="t"/>
          <a:lstStyle/>
          <a:p>
            <a:pPr marL="0" indent="0" algn="l">
              <a:lnSpc>
                <a:spcPts val="1100"/>
              </a:lnSpc>
              <a:buNone/>
            </a:pPr>
            <a:r>
              <a:rPr lang="en-US" sz="850" dirty="0">
                <a:solidFill>
                  <a:srgbClr val="D6E5EF"/>
                </a:solidFill>
                <a:latin typeface="Roboto" pitchFamily="34" charset="0"/>
                <a:ea typeface="Roboto" pitchFamily="34" charset="-122"/>
                <a:cs typeface="Roboto" pitchFamily="34" charset="-120"/>
              </a:rPr>
              <a:t>Stream registration data into </a:t>
            </a:r>
            <a:r>
              <a:rPr lang="en-US" sz="850" b="1" dirty="0">
                <a:solidFill>
                  <a:srgbClr val="D6E5EF"/>
                </a:solidFill>
                <a:latin typeface="Roboto" pitchFamily="34" charset="0"/>
                <a:ea typeface="Roboto" pitchFamily="34" charset="-122"/>
                <a:cs typeface="Roboto" pitchFamily="34" charset="-120"/>
              </a:rPr>
              <a:t>BigQuery</a:t>
            </a:r>
            <a:r>
              <a:rPr lang="en-US" sz="850" dirty="0">
                <a:solidFill>
                  <a:srgbClr val="D6E5EF"/>
                </a:solidFill>
                <a:latin typeface="Roboto" pitchFamily="34" charset="0"/>
                <a:ea typeface="Roboto" pitchFamily="34" charset="-122"/>
                <a:cs typeface="Roboto" pitchFamily="34" charset="-120"/>
              </a:rPr>
              <a:t> for large-scale analytics. University administrators can query attendance trends, popular event categories, peak registration times, and department participation rates using standard SQL over massive datasets.</a:t>
            </a:r>
            <a:endParaRPr lang="en-US" sz="850" dirty="0"/>
          </a:p>
        </p:txBody>
      </p:sp>
      <p:sp>
        <p:nvSpPr>
          <p:cNvPr id="15" name="Shape 13"/>
          <p:cNvSpPr/>
          <p:nvPr/>
        </p:nvSpPr>
        <p:spPr>
          <a:xfrm>
            <a:off x="6864370" y="3212902"/>
            <a:ext cx="338971" cy="15240"/>
          </a:xfrm>
          <a:prstGeom prst="roundRect">
            <a:avLst>
              <a:gd name="adj" fmla="val 111216"/>
            </a:avLst>
          </a:prstGeom>
          <a:solidFill>
            <a:srgbClr val="585F6B"/>
          </a:solidFill>
          <a:ln/>
        </p:spPr>
      </p:sp>
      <p:sp>
        <p:nvSpPr>
          <p:cNvPr id="16" name="Shape 14"/>
          <p:cNvSpPr/>
          <p:nvPr/>
        </p:nvSpPr>
        <p:spPr>
          <a:xfrm>
            <a:off x="7188101" y="3093482"/>
            <a:ext cx="254198" cy="254198"/>
          </a:xfrm>
          <a:prstGeom prst="roundRect">
            <a:avLst>
              <a:gd name="adj" fmla="val 6668"/>
            </a:avLst>
          </a:prstGeom>
          <a:solidFill>
            <a:srgbClr val="3F4652"/>
          </a:solidFill>
          <a:ln/>
        </p:spPr>
      </p:sp>
      <p:sp>
        <p:nvSpPr>
          <p:cNvPr id="17" name="Text 15"/>
          <p:cNvSpPr/>
          <p:nvPr/>
        </p:nvSpPr>
        <p:spPr>
          <a:xfrm>
            <a:off x="7230428" y="3114615"/>
            <a:ext cx="169426" cy="211812"/>
          </a:xfrm>
          <a:prstGeom prst="rect">
            <a:avLst/>
          </a:prstGeom>
          <a:noFill/>
          <a:ln/>
        </p:spPr>
        <p:txBody>
          <a:bodyPr wrap="none" lIns="0" tIns="0" rIns="0" bIns="0" rtlCol="0" anchor="t"/>
          <a:lstStyle/>
          <a:p>
            <a:pPr marL="0" indent="0" algn="ctr">
              <a:lnSpc>
                <a:spcPts val="1300"/>
              </a:lnSpc>
              <a:buNone/>
            </a:pPr>
            <a:r>
              <a:rPr lang="en-US" sz="1300" dirty="0">
                <a:solidFill>
                  <a:srgbClr val="D6E5EF"/>
                </a:solidFill>
                <a:latin typeface="Roboto Slab" pitchFamily="34" charset="0"/>
                <a:ea typeface="Roboto Slab" pitchFamily="34" charset="-122"/>
                <a:cs typeface="Roboto Slab" pitchFamily="34" charset="-120"/>
              </a:rPr>
              <a:t>3</a:t>
            </a:r>
            <a:endParaRPr lang="en-US" sz="1300" dirty="0"/>
          </a:p>
        </p:txBody>
      </p:sp>
      <p:sp>
        <p:nvSpPr>
          <p:cNvPr id="18" name="Text 16"/>
          <p:cNvSpPr/>
          <p:nvPr/>
        </p:nvSpPr>
        <p:spPr>
          <a:xfrm>
            <a:off x="5337810" y="3132296"/>
            <a:ext cx="1412438" cy="176451"/>
          </a:xfrm>
          <a:prstGeom prst="rect">
            <a:avLst/>
          </a:prstGeom>
          <a:noFill/>
          <a:ln/>
        </p:spPr>
        <p:txBody>
          <a:bodyPr wrap="none" lIns="0" tIns="0" rIns="0" bIns="0" rtlCol="0" anchor="t"/>
          <a:lstStyle/>
          <a:p>
            <a:pPr marL="0" indent="0" algn="r">
              <a:lnSpc>
                <a:spcPts val="1350"/>
              </a:lnSpc>
              <a:buNone/>
            </a:pPr>
            <a:r>
              <a:rPr lang="en-US" sz="1100" dirty="0">
                <a:solidFill>
                  <a:srgbClr val="D6E5EF"/>
                </a:solidFill>
                <a:latin typeface="Roboto Slab" pitchFamily="34" charset="0"/>
                <a:ea typeface="Roboto Slab" pitchFamily="34" charset="-122"/>
                <a:cs typeface="Roboto Slab" pitchFamily="34" charset="-120"/>
              </a:rPr>
              <a:t>Phase 3: Dashboards</a:t>
            </a:r>
            <a:endParaRPr lang="en-US" sz="1100" dirty="0"/>
          </a:p>
        </p:txBody>
      </p:sp>
      <p:sp>
        <p:nvSpPr>
          <p:cNvPr id="19" name="Text 17"/>
          <p:cNvSpPr/>
          <p:nvPr/>
        </p:nvSpPr>
        <p:spPr>
          <a:xfrm>
            <a:off x="2860000" y="3347323"/>
            <a:ext cx="3890248" cy="567214"/>
          </a:xfrm>
          <a:prstGeom prst="rect">
            <a:avLst/>
          </a:prstGeom>
          <a:noFill/>
          <a:ln/>
        </p:spPr>
        <p:txBody>
          <a:bodyPr wrap="square" lIns="0" tIns="0" rIns="0" bIns="0" rtlCol="0" anchor="t"/>
          <a:lstStyle/>
          <a:p>
            <a:pPr marL="0" indent="0" algn="r">
              <a:lnSpc>
                <a:spcPts val="1100"/>
              </a:lnSpc>
              <a:buNone/>
            </a:pPr>
            <a:r>
              <a:rPr lang="en-US" sz="850" dirty="0">
                <a:solidFill>
                  <a:srgbClr val="D6E5EF"/>
                </a:solidFill>
                <a:latin typeface="Roboto" pitchFamily="34" charset="0"/>
                <a:ea typeface="Roboto" pitchFamily="34" charset="-122"/>
                <a:cs typeface="Roboto" pitchFamily="34" charset="-120"/>
              </a:rPr>
              <a:t>Build interactive visualization dashboards using </a:t>
            </a:r>
            <a:r>
              <a:rPr lang="en-US" sz="850" b="1" dirty="0">
                <a:solidFill>
                  <a:srgbClr val="D6E5EF"/>
                </a:solidFill>
                <a:latin typeface="Roboto" pitchFamily="34" charset="0"/>
                <a:ea typeface="Roboto" pitchFamily="34" charset="-122"/>
                <a:cs typeface="Roboto" pitchFamily="34" charset="-120"/>
              </a:rPr>
              <a:t>Looker</a:t>
            </a:r>
            <a:r>
              <a:rPr lang="en-US" sz="850" dirty="0">
                <a:solidFill>
                  <a:srgbClr val="D6E5EF"/>
                </a:solidFill>
                <a:latin typeface="Roboto" pitchFamily="34" charset="0"/>
                <a:ea typeface="Roboto" pitchFamily="34" charset="-122"/>
                <a:cs typeface="Roboto" pitchFamily="34" charset="-120"/>
              </a:rPr>
              <a:t> connected to BigQuery. Admins get live charts of capacity utilization, registration velocity, and historical event performance — enabling data-driven decisions for future event planning.</a:t>
            </a:r>
            <a:endParaRPr lang="en-US" sz="850" dirty="0"/>
          </a:p>
        </p:txBody>
      </p:sp>
      <p:sp>
        <p:nvSpPr>
          <p:cNvPr id="20" name="Shape 18"/>
          <p:cNvSpPr/>
          <p:nvPr/>
        </p:nvSpPr>
        <p:spPr>
          <a:xfrm>
            <a:off x="7427059" y="3748564"/>
            <a:ext cx="338971" cy="15240"/>
          </a:xfrm>
          <a:prstGeom prst="roundRect">
            <a:avLst>
              <a:gd name="adj" fmla="val 111216"/>
            </a:avLst>
          </a:prstGeom>
          <a:solidFill>
            <a:srgbClr val="585F6B"/>
          </a:solidFill>
          <a:ln/>
        </p:spPr>
      </p:sp>
      <p:sp>
        <p:nvSpPr>
          <p:cNvPr id="21" name="Shape 19"/>
          <p:cNvSpPr/>
          <p:nvPr/>
        </p:nvSpPr>
        <p:spPr>
          <a:xfrm>
            <a:off x="7188101" y="3629144"/>
            <a:ext cx="254198" cy="254198"/>
          </a:xfrm>
          <a:prstGeom prst="roundRect">
            <a:avLst>
              <a:gd name="adj" fmla="val 6668"/>
            </a:avLst>
          </a:prstGeom>
          <a:solidFill>
            <a:srgbClr val="3F4652"/>
          </a:solidFill>
          <a:ln/>
        </p:spPr>
      </p:sp>
      <p:sp>
        <p:nvSpPr>
          <p:cNvPr id="22" name="Text 20"/>
          <p:cNvSpPr/>
          <p:nvPr/>
        </p:nvSpPr>
        <p:spPr>
          <a:xfrm>
            <a:off x="7230428" y="3650278"/>
            <a:ext cx="169426" cy="211812"/>
          </a:xfrm>
          <a:prstGeom prst="rect">
            <a:avLst/>
          </a:prstGeom>
          <a:noFill/>
          <a:ln/>
        </p:spPr>
        <p:txBody>
          <a:bodyPr wrap="none" lIns="0" tIns="0" rIns="0" bIns="0" rtlCol="0" anchor="t"/>
          <a:lstStyle/>
          <a:p>
            <a:pPr marL="0" indent="0" algn="ctr">
              <a:lnSpc>
                <a:spcPts val="1300"/>
              </a:lnSpc>
              <a:buNone/>
            </a:pPr>
            <a:r>
              <a:rPr lang="en-US" sz="1300" dirty="0">
                <a:solidFill>
                  <a:srgbClr val="D6E5EF"/>
                </a:solidFill>
                <a:latin typeface="Roboto Slab" pitchFamily="34" charset="0"/>
                <a:ea typeface="Roboto Slab" pitchFamily="34" charset="-122"/>
                <a:cs typeface="Roboto Slab" pitchFamily="34" charset="-120"/>
              </a:rPr>
              <a:t>4</a:t>
            </a:r>
            <a:endParaRPr lang="en-US" sz="1300" dirty="0"/>
          </a:p>
        </p:txBody>
      </p:sp>
      <p:sp>
        <p:nvSpPr>
          <p:cNvPr id="23" name="Text 21"/>
          <p:cNvSpPr/>
          <p:nvPr/>
        </p:nvSpPr>
        <p:spPr>
          <a:xfrm>
            <a:off x="7880152" y="3667958"/>
            <a:ext cx="1412438" cy="176451"/>
          </a:xfrm>
          <a:prstGeom prst="rect">
            <a:avLst/>
          </a:prstGeom>
          <a:noFill/>
          <a:ln/>
        </p:spPr>
        <p:txBody>
          <a:bodyPr wrap="none" lIns="0" tIns="0" rIns="0" bIns="0" rtlCol="0" anchor="t"/>
          <a:lstStyle/>
          <a:p>
            <a:pPr marL="0" indent="0" algn="l">
              <a:lnSpc>
                <a:spcPts val="1350"/>
              </a:lnSpc>
              <a:buNone/>
            </a:pPr>
            <a:r>
              <a:rPr lang="en-US" sz="1100" dirty="0">
                <a:solidFill>
                  <a:srgbClr val="D6E5EF"/>
                </a:solidFill>
                <a:latin typeface="Roboto Slab" pitchFamily="34" charset="0"/>
                <a:ea typeface="Roboto Slab" pitchFamily="34" charset="-122"/>
                <a:cs typeface="Roboto Slab" pitchFamily="34" charset="-120"/>
              </a:rPr>
              <a:t>Phase 4: AI/ML</a:t>
            </a:r>
            <a:endParaRPr lang="en-US" sz="1100" dirty="0"/>
          </a:p>
        </p:txBody>
      </p:sp>
      <p:sp>
        <p:nvSpPr>
          <p:cNvPr id="24" name="Text 22"/>
          <p:cNvSpPr/>
          <p:nvPr/>
        </p:nvSpPr>
        <p:spPr>
          <a:xfrm>
            <a:off x="7880152" y="3882985"/>
            <a:ext cx="3890248" cy="567214"/>
          </a:xfrm>
          <a:prstGeom prst="rect">
            <a:avLst/>
          </a:prstGeom>
          <a:noFill/>
          <a:ln/>
        </p:spPr>
        <p:txBody>
          <a:bodyPr wrap="square" lIns="0" tIns="0" rIns="0" bIns="0" rtlCol="0" anchor="t"/>
          <a:lstStyle/>
          <a:p>
            <a:pPr marL="0" indent="0" algn="l">
              <a:lnSpc>
                <a:spcPts val="1100"/>
              </a:lnSpc>
              <a:buNone/>
            </a:pPr>
            <a:r>
              <a:rPr lang="en-US" sz="850" dirty="0">
                <a:solidFill>
                  <a:srgbClr val="D6E5EF"/>
                </a:solidFill>
                <a:latin typeface="Roboto" pitchFamily="34" charset="0"/>
                <a:ea typeface="Roboto" pitchFamily="34" charset="-122"/>
                <a:cs typeface="Roboto" pitchFamily="34" charset="-120"/>
              </a:rPr>
              <a:t>Leverage </a:t>
            </a:r>
            <a:r>
              <a:rPr lang="en-US" sz="850" b="1" dirty="0">
                <a:solidFill>
                  <a:srgbClr val="D6E5EF"/>
                </a:solidFill>
                <a:latin typeface="Roboto" pitchFamily="34" charset="0"/>
                <a:ea typeface="Roboto" pitchFamily="34" charset="-122"/>
                <a:cs typeface="Roboto" pitchFamily="34" charset="-120"/>
              </a:rPr>
              <a:t>AutoML or pre-trained Google APIs</a:t>
            </a:r>
            <a:r>
              <a:rPr lang="en-US" sz="850" dirty="0">
                <a:solidFill>
                  <a:srgbClr val="D6E5EF"/>
                </a:solidFill>
                <a:latin typeface="Roboto" pitchFamily="34" charset="0"/>
                <a:ea typeface="Roboto" pitchFamily="34" charset="-122"/>
                <a:cs typeface="Roboto" pitchFamily="34" charset="-120"/>
              </a:rPr>
              <a:t> (e.g., Natural Language, Recommendations AI) to personalize event suggestions based on student history, predict attendance demand, and auto-categorize event submissions using NLP.</a:t>
            </a:r>
            <a:endParaRPr lang="en-US" sz="850" dirty="0"/>
          </a:p>
        </p:txBody>
      </p:sp>
      <p:sp>
        <p:nvSpPr>
          <p:cNvPr id="25" name="Shape 23"/>
          <p:cNvSpPr/>
          <p:nvPr/>
        </p:nvSpPr>
        <p:spPr>
          <a:xfrm>
            <a:off x="6864370" y="4284226"/>
            <a:ext cx="338971" cy="15240"/>
          </a:xfrm>
          <a:prstGeom prst="roundRect">
            <a:avLst>
              <a:gd name="adj" fmla="val 111216"/>
            </a:avLst>
          </a:prstGeom>
          <a:solidFill>
            <a:srgbClr val="585F6B"/>
          </a:solidFill>
          <a:ln/>
        </p:spPr>
      </p:sp>
      <p:sp>
        <p:nvSpPr>
          <p:cNvPr id="26" name="Shape 24"/>
          <p:cNvSpPr/>
          <p:nvPr/>
        </p:nvSpPr>
        <p:spPr>
          <a:xfrm>
            <a:off x="7188101" y="4164806"/>
            <a:ext cx="254198" cy="254198"/>
          </a:xfrm>
          <a:prstGeom prst="roundRect">
            <a:avLst>
              <a:gd name="adj" fmla="val 6668"/>
            </a:avLst>
          </a:prstGeom>
          <a:solidFill>
            <a:srgbClr val="3F4652"/>
          </a:solidFill>
          <a:ln/>
        </p:spPr>
      </p:sp>
      <p:sp>
        <p:nvSpPr>
          <p:cNvPr id="27" name="Text 25"/>
          <p:cNvSpPr/>
          <p:nvPr/>
        </p:nvSpPr>
        <p:spPr>
          <a:xfrm>
            <a:off x="7230428" y="4185940"/>
            <a:ext cx="169426" cy="211812"/>
          </a:xfrm>
          <a:prstGeom prst="rect">
            <a:avLst/>
          </a:prstGeom>
          <a:noFill/>
          <a:ln/>
        </p:spPr>
        <p:txBody>
          <a:bodyPr wrap="none" lIns="0" tIns="0" rIns="0" bIns="0" rtlCol="0" anchor="t"/>
          <a:lstStyle/>
          <a:p>
            <a:pPr marL="0" indent="0" algn="ctr">
              <a:lnSpc>
                <a:spcPts val="1300"/>
              </a:lnSpc>
              <a:buNone/>
            </a:pPr>
            <a:r>
              <a:rPr lang="en-US" sz="1300" dirty="0">
                <a:solidFill>
                  <a:srgbClr val="D6E5EF"/>
                </a:solidFill>
                <a:latin typeface="Roboto Slab" pitchFamily="34" charset="0"/>
                <a:ea typeface="Roboto Slab" pitchFamily="34" charset="-122"/>
                <a:cs typeface="Roboto Slab" pitchFamily="34" charset="-120"/>
              </a:rPr>
              <a:t>5</a:t>
            </a:r>
            <a:endParaRPr lang="en-US" sz="1300" dirty="0"/>
          </a:p>
        </p:txBody>
      </p:sp>
      <p:sp>
        <p:nvSpPr>
          <p:cNvPr id="28" name="Text 26"/>
          <p:cNvSpPr/>
          <p:nvPr/>
        </p:nvSpPr>
        <p:spPr>
          <a:xfrm>
            <a:off x="4621887" y="4203621"/>
            <a:ext cx="2128361" cy="176451"/>
          </a:xfrm>
          <a:prstGeom prst="rect">
            <a:avLst/>
          </a:prstGeom>
          <a:noFill/>
          <a:ln/>
        </p:spPr>
        <p:txBody>
          <a:bodyPr wrap="none" lIns="0" tIns="0" rIns="0" bIns="0" rtlCol="0" anchor="t"/>
          <a:lstStyle/>
          <a:p>
            <a:pPr marL="0" indent="0" algn="r">
              <a:lnSpc>
                <a:spcPts val="1350"/>
              </a:lnSpc>
              <a:buNone/>
            </a:pPr>
            <a:r>
              <a:rPr lang="en-US" sz="1100" dirty="0">
                <a:solidFill>
                  <a:srgbClr val="D6E5EF"/>
                </a:solidFill>
                <a:latin typeface="Roboto Slab" pitchFamily="34" charset="0"/>
                <a:ea typeface="Roboto Slab" pitchFamily="34" charset="-122"/>
                <a:cs typeface="Roboto Slab" pitchFamily="34" charset="-120"/>
              </a:rPr>
              <a:t>Phase 5: Mobile &amp; Microservices</a:t>
            </a:r>
            <a:endParaRPr lang="en-US" sz="1100" dirty="0"/>
          </a:p>
        </p:txBody>
      </p:sp>
      <p:sp>
        <p:nvSpPr>
          <p:cNvPr id="29" name="Text 27"/>
          <p:cNvSpPr/>
          <p:nvPr/>
        </p:nvSpPr>
        <p:spPr>
          <a:xfrm>
            <a:off x="2860000" y="4418648"/>
            <a:ext cx="3890248" cy="567214"/>
          </a:xfrm>
          <a:prstGeom prst="rect">
            <a:avLst/>
          </a:prstGeom>
          <a:noFill/>
          <a:ln/>
        </p:spPr>
        <p:txBody>
          <a:bodyPr wrap="square" lIns="0" tIns="0" rIns="0" bIns="0" rtlCol="0" anchor="t"/>
          <a:lstStyle/>
          <a:p>
            <a:pPr marL="0" indent="0" algn="r">
              <a:lnSpc>
                <a:spcPts val="1100"/>
              </a:lnSpc>
              <a:buNone/>
            </a:pPr>
            <a:r>
              <a:rPr lang="en-US" sz="850" dirty="0">
                <a:solidFill>
                  <a:srgbClr val="D6E5EF"/>
                </a:solidFill>
                <a:latin typeface="Roboto" pitchFamily="34" charset="0"/>
                <a:ea typeface="Roboto" pitchFamily="34" charset="-122"/>
                <a:cs typeface="Roboto" pitchFamily="34" charset="-120"/>
              </a:rPr>
              <a:t>Release a dedicated </a:t>
            </a:r>
            <a:r>
              <a:rPr lang="en-US" sz="850" b="1" dirty="0">
                <a:solidFill>
                  <a:srgbClr val="D6E5EF"/>
                </a:solidFill>
                <a:latin typeface="Roboto" pitchFamily="34" charset="0"/>
                <a:ea typeface="Roboto" pitchFamily="34" charset="-122"/>
                <a:cs typeface="Roboto" pitchFamily="34" charset="-120"/>
              </a:rPr>
              <a:t>mobile application</a:t>
            </a:r>
            <a:r>
              <a:rPr lang="en-US" sz="850" dirty="0">
                <a:solidFill>
                  <a:srgbClr val="D6E5EF"/>
                </a:solidFill>
                <a:latin typeface="Roboto" pitchFamily="34" charset="0"/>
                <a:ea typeface="Roboto" pitchFamily="34" charset="-122"/>
                <a:cs typeface="Roboto" pitchFamily="34" charset="-120"/>
              </a:rPr>
              <a:t> (iOS/Android) for on-the-go registration and check-in. Decompose the backend into independent </a:t>
            </a:r>
            <a:r>
              <a:rPr lang="en-US" sz="850" b="1" dirty="0">
                <a:solidFill>
                  <a:srgbClr val="D6E5EF"/>
                </a:solidFill>
                <a:latin typeface="Roboto" pitchFamily="34" charset="0"/>
                <a:ea typeface="Roboto" pitchFamily="34" charset="-122"/>
                <a:cs typeface="Roboto" pitchFamily="34" charset="-120"/>
              </a:rPr>
              <a:t>microservices</a:t>
            </a:r>
            <a:r>
              <a:rPr lang="en-US" sz="850" dirty="0">
                <a:solidFill>
                  <a:srgbClr val="D6E5EF"/>
                </a:solidFill>
                <a:latin typeface="Roboto" pitchFamily="34" charset="0"/>
                <a:ea typeface="Roboto" pitchFamily="34" charset="-122"/>
                <a:cs typeface="Roboto" pitchFamily="34" charset="-120"/>
              </a:rPr>
              <a:t> — each independently deployable, scalable, and fault-tolerant — supporting a truly enterprise-grade architecture.</a:t>
            </a:r>
            <a:endParaRPr lang="en-US" sz="850" dirty="0"/>
          </a:p>
        </p:txBody>
      </p:sp>
      <p:sp>
        <p:nvSpPr>
          <p:cNvPr id="30" name="Text 28"/>
          <p:cNvSpPr/>
          <p:nvPr/>
        </p:nvSpPr>
        <p:spPr>
          <a:xfrm>
            <a:off x="2860000" y="5236250"/>
            <a:ext cx="4414957" cy="372785"/>
          </a:xfrm>
          <a:prstGeom prst="rect">
            <a:avLst/>
          </a:prstGeom>
          <a:noFill/>
          <a:ln/>
        </p:spPr>
        <p:txBody>
          <a:bodyPr wrap="none" lIns="0" tIns="0" rIns="0" bIns="0" rtlCol="0" anchor="t"/>
          <a:lstStyle/>
          <a:p>
            <a:pPr marL="0" indent="0" algn="ctr">
              <a:lnSpc>
                <a:spcPts val="2900"/>
              </a:lnSpc>
              <a:buNone/>
            </a:pPr>
            <a:r>
              <a:rPr lang="en-US" sz="2900" dirty="0">
                <a:solidFill>
                  <a:srgbClr val="D6E5EF"/>
                </a:solidFill>
                <a:latin typeface="Roboto Slab" pitchFamily="34" charset="0"/>
                <a:ea typeface="Roboto Slab" pitchFamily="34" charset="-122"/>
                <a:cs typeface="Roboto Slab" pitchFamily="34" charset="-120"/>
              </a:rPr>
              <a:t>5</a:t>
            </a:r>
            <a:endParaRPr lang="en-US" sz="2900" dirty="0"/>
          </a:p>
        </p:txBody>
      </p:sp>
      <p:sp>
        <p:nvSpPr>
          <p:cNvPr id="31" name="Text 29"/>
          <p:cNvSpPr/>
          <p:nvPr/>
        </p:nvSpPr>
        <p:spPr>
          <a:xfrm>
            <a:off x="4361259" y="5713690"/>
            <a:ext cx="1412438" cy="176451"/>
          </a:xfrm>
          <a:prstGeom prst="rect">
            <a:avLst/>
          </a:prstGeom>
          <a:noFill/>
          <a:ln/>
        </p:spPr>
        <p:txBody>
          <a:bodyPr wrap="none" lIns="0" tIns="0" rIns="0" bIns="0" rtlCol="0" anchor="t"/>
          <a:lstStyle/>
          <a:p>
            <a:pPr marL="0" indent="0" algn="ctr">
              <a:lnSpc>
                <a:spcPts val="1350"/>
              </a:lnSpc>
              <a:buNone/>
            </a:pPr>
            <a:r>
              <a:rPr lang="en-US" sz="1100" dirty="0">
                <a:solidFill>
                  <a:srgbClr val="D6E5EF"/>
                </a:solidFill>
                <a:latin typeface="Roboto Slab" pitchFamily="34" charset="0"/>
                <a:ea typeface="Roboto Slab" pitchFamily="34" charset="-122"/>
                <a:cs typeface="Roboto Slab" pitchFamily="34" charset="-120"/>
              </a:rPr>
              <a:t>GCP Services</a:t>
            </a:r>
            <a:endParaRPr lang="en-US" sz="1100" dirty="0"/>
          </a:p>
        </p:txBody>
      </p:sp>
      <p:sp>
        <p:nvSpPr>
          <p:cNvPr id="32" name="Text 30"/>
          <p:cNvSpPr/>
          <p:nvPr/>
        </p:nvSpPr>
        <p:spPr>
          <a:xfrm>
            <a:off x="2860000" y="5928717"/>
            <a:ext cx="4414957" cy="141803"/>
          </a:xfrm>
          <a:prstGeom prst="rect">
            <a:avLst/>
          </a:prstGeom>
          <a:noFill/>
          <a:ln/>
        </p:spPr>
        <p:txBody>
          <a:bodyPr wrap="none" lIns="0" tIns="0" rIns="0" bIns="0" rtlCol="0" anchor="t"/>
          <a:lstStyle/>
          <a:p>
            <a:pPr marL="0" indent="0" algn="ctr">
              <a:lnSpc>
                <a:spcPts val="1100"/>
              </a:lnSpc>
              <a:buNone/>
            </a:pPr>
            <a:r>
              <a:rPr lang="en-US" sz="850" dirty="0">
                <a:solidFill>
                  <a:srgbClr val="D6E5EF"/>
                </a:solidFill>
                <a:latin typeface="Roboto" pitchFamily="34" charset="0"/>
                <a:ea typeface="Roboto" pitchFamily="34" charset="-122"/>
                <a:cs typeface="Roboto" pitchFamily="34" charset="-120"/>
              </a:rPr>
              <a:t>Core services powering the platform today</a:t>
            </a:r>
            <a:endParaRPr lang="en-US" sz="850" dirty="0"/>
          </a:p>
        </p:txBody>
      </p:sp>
      <p:sp>
        <p:nvSpPr>
          <p:cNvPr id="33" name="Text 31"/>
          <p:cNvSpPr/>
          <p:nvPr/>
        </p:nvSpPr>
        <p:spPr>
          <a:xfrm>
            <a:off x="7355324" y="5236250"/>
            <a:ext cx="4415076" cy="372785"/>
          </a:xfrm>
          <a:prstGeom prst="rect">
            <a:avLst/>
          </a:prstGeom>
          <a:noFill/>
          <a:ln/>
        </p:spPr>
        <p:txBody>
          <a:bodyPr wrap="none" lIns="0" tIns="0" rIns="0" bIns="0" rtlCol="0" anchor="t"/>
          <a:lstStyle/>
          <a:p>
            <a:pPr marL="0" indent="0" algn="ctr">
              <a:lnSpc>
                <a:spcPts val="2900"/>
              </a:lnSpc>
              <a:buNone/>
            </a:pPr>
            <a:r>
              <a:rPr lang="en-US" sz="2900" dirty="0">
                <a:solidFill>
                  <a:srgbClr val="D6E5EF"/>
                </a:solidFill>
                <a:latin typeface="Roboto Slab" pitchFamily="34" charset="0"/>
                <a:ea typeface="Roboto Slab" pitchFamily="34" charset="-122"/>
                <a:cs typeface="Roboto Slab" pitchFamily="34" charset="-120"/>
              </a:rPr>
              <a:t>0</a:t>
            </a:r>
            <a:endParaRPr lang="en-US" sz="2900" dirty="0"/>
          </a:p>
        </p:txBody>
      </p:sp>
      <p:sp>
        <p:nvSpPr>
          <p:cNvPr id="34" name="Text 32"/>
          <p:cNvSpPr/>
          <p:nvPr/>
        </p:nvSpPr>
        <p:spPr>
          <a:xfrm>
            <a:off x="8856583" y="5713690"/>
            <a:ext cx="1412438" cy="176451"/>
          </a:xfrm>
          <a:prstGeom prst="rect">
            <a:avLst/>
          </a:prstGeom>
          <a:noFill/>
          <a:ln/>
        </p:spPr>
        <p:txBody>
          <a:bodyPr wrap="none" lIns="0" tIns="0" rIns="0" bIns="0" rtlCol="0" anchor="t"/>
          <a:lstStyle/>
          <a:p>
            <a:pPr marL="0" indent="0" algn="ctr">
              <a:lnSpc>
                <a:spcPts val="1350"/>
              </a:lnSpc>
              <a:buNone/>
            </a:pPr>
            <a:r>
              <a:rPr lang="en-US" sz="1100" dirty="0">
                <a:solidFill>
                  <a:srgbClr val="D6E5EF"/>
                </a:solidFill>
                <a:latin typeface="Roboto Slab" pitchFamily="34" charset="0"/>
                <a:ea typeface="Roboto Slab" pitchFamily="34" charset="-122"/>
                <a:cs typeface="Roboto Slab" pitchFamily="34" charset="-120"/>
              </a:rPr>
              <a:t>Servers to Manage</a:t>
            </a:r>
            <a:endParaRPr lang="en-US" sz="1100" dirty="0"/>
          </a:p>
        </p:txBody>
      </p:sp>
      <p:sp>
        <p:nvSpPr>
          <p:cNvPr id="35" name="Text 33"/>
          <p:cNvSpPr/>
          <p:nvPr/>
        </p:nvSpPr>
        <p:spPr>
          <a:xfrm>
            <a:off x="7355324" y="5928717"/>
            <a:ext cx="4415076" cy="141803"/>
          </a:xfrm>
          <a:prstGeom prst="rect">
            <a:avLst/>
          </a:prstGeom>
          <a:noFill/>
          <a:ln/>
        </p:spPr>
        <p:txBody>
          <a:bodyPr wrap="none" lIns="0" tIns="0" rIns="0" bIns="0" rtlCol="0" anchor="t"/>
          <a:lstStyle/>
          <a:p>
            <a:pPr marL="0" indent="0" algn="ctr">
              <a:lnSpc>
                <a:spcPts val="1100"/>
              </a:lnSpc>
              <a:buNone/>
            </a:pPr>
            <a:r>
              <a:rPr lang="en-US" sz="850" dirty="0">
                <a:solidFill>
                  <a:srgbClr val="D6E5EF"/>
                </a:solidFill>
                <a:latin typeface="Roboto" pitchFamily="34" charset="0"/>
                <a:ea typeface="Roboto" pitchFamily="34" charset="-122"/>
                <a:cs typeface="Roboto" pitchFamily="34" charset="-120"/>
              </a:rPr>
              <a:t>Fully serverless — zero infrastructure overhead</a:t>
            </a:r>
            <a:endParaRPr lang="en-US" sz="850" dirty="0"/>
          </a:p>
        </p:txBody>
      </p:sp>
      <p:sp>
        <p:nvSpPr>
          <p:cNvPr id="36" name="Text 34"/>
          <p:cNvSpPr/>
          <p:nvPr/>
        </p:nvSpPr>
        <p:spPr>
          <a:xfrm>
            <a:off x="2860000" y="6255544"/>
            <a:ext cx="4414957" cy="372785"/>
          </a:xfrm>
          <a:prstGeom prst="rect">
            <a:avLst/>
          </a:prstGeom>
          <a:noFill/>
          <a:ln/>
        </p:spPr>
        <p:txBody>
          <a:bodyPr wrap="none" lIns="0" tIns="0" rIns="0" bIns="0" rtlCol="0" anchor="t"/>
          <a:lstStyle/>
          <a:p>
            <a:pPr marL="0" indent="0" algn="ctr">
              <a:lnSpc>
                <a:spcPts val="2900"/>
              </a:lnSpc>
              <a:buNone/>
            </a:pPr>
            <a:r>
              <a:rPr lang="en-US" sz="2900" dirty="0">
                <a:solidFill>
                  <a:srgbClr val="D6E5EF"/>
                </a:solidFill>
                <a:latin typeface="Roboto Slab" pitchFamily="34" charset="0"/>
                <a:ea typeface="Roboto Slab" pitchFamily="34" charset="-122"/>
                <a:cs typeface="Roboto Slab" pitchFamily="34" charset="-120"/>
              </a:rPr>
              <a:t>99.9%</a:t>
            </a:r>
            <a:endParaRPr lang="en-US" sz="2900" dirty="0"/>
          </a:p>
        </p:txBody>
      </p:sp>
      <p:sp>
        <p:nvSpPr>
          <p:cNvPr id="37" name="Text 35"/>
          <p:cNvSpPr/>
          <p:nvPr/>
        </p:nvSpPr>
        <p:spPr>
          <a:xfrm>
            <a:off x="4361259" y="6732984"/>
            <a:ext cx="1412438" cy="176451"/>
          </a:xfrm>
          <a:prstGeom prst="rect">
            <a:avLst/>
          </a:prstGeom>
          <a:noFill/>
          <a:ln/>
        </p:spPr>
        <p:txBody>
          <a:bodyPr wrap="none" lIns="0" tIns="0" rIns="0" bIns="0" rtlCol="0" anchor="t"/>
          <a:lstStyle/>
          <a:p>
            <a:pPr marL="0" indent="0" algn="ctr">
              <a:lnSpc>
                <a:spcPts val="1350"/>
              </a:lnSpc>
              <a:buNone/>
            </a:pPr>
            <a:r>
              <a:rPr lang="en-US" sz="1100" dirty="0">
                <a:solidFill>
                  <a:srgbClr val="D6E5EF"/>
                </a:solidFill>
                <a:latin typeface="Roboto Slab" pitchFamily="34" charset="0"/>
                <a:ea typeface="Roboto Slab" pitchFamily="34" charset="-122"/>
                <a:cs typeface="Roboto Slab" pitchFamily="34" charset="-120"/>
              </a:rPr>
              <a:t>Target Uptime</a:t>
            </a:r>
            <a:endParaRPr lang="en-US" sz="1100" dirty="0"/>
          </a:p>
        </p:txBody>
      </p:sp>
      <p:sp>
        <p:nvSpPr>
          <p:cNvPr id="38" name="Text 36"/>
          <p:cNvSpPr/>
          <p:nvPr/>
        </p:nvSpPr>
        <p:spPr>
          <a:xfrm>
            <a:off x="2860000" y="6948011"/>
            <a:ext cx="4414957" cy="141803"/>
          </a:xfrm>
          <a:prstGeom prst="rect">
            <a:avLst/>
          </a:prstGeom>
          <a:noFill/>
          <a:ln/>
        </p:spPr>
        <p:txBody>
          <a:bodyPr wrap="none" lIns="0" tIns="0" rIns="0" bIns="0" rtlCol="0" anchor="t"/>
          <a:lstStyle/>
          <a:p>
            <a:pPr marL="0" indent="0" algn="ctr">
              <a:lnSpc>
                <a:spcPts val="1100"/>
              </a:lnSpc>
              <a:buNone/>
            </a:pPr>
            <a:r>
              <a:rPr lang="en-US" sz="850" dirty="0">
                <a:solidFill>
                  <a:srgbClr val="D6E5EF"/>
                </a:solidFill>
                <a:latin typeface="Roboto" pitchFamily="34" charset="0"/>
                <a:ea typeface="Roboto" pitchFamily="34" charset="-122"/>
                <a:cs typeface="Roboto" pitchFamily="34" charset="-120"/>
              </a:rPr>
              <a:t>SLA backed by Google Cloud infrastructure</a:t>
            </a:r>
            <a:endParaRPr lang="en-US" sz="850" dirty="0"/>
          </a:p>
        </p:txBody>
      </p:sp>
      <p:sp>
        <p:nvSpPr>
          <p:cNvPr id="39" name="Text 37"/>
          <p:cNvSpPr/>
          <p:nvPr/>
        </p:nvSpPr>
        <p:spPr>
          <a:xfrm>
            <a:off x="7355324" y="6255544"/>
            <a:ext cx="4415076" cy="372785"/>
          </a:xfrm>
          <a:prstGeom prst="rect">
            <a:avLst/>
          </a:prstGeom>
          <a:noFill/>
          <a:ln/>
        </p:spPr>
        <p:txBody>
          <a:bodyPr wrap="none" lIns="0" tIns="0" rIns="0" bIns="0" rtlCol="0" anchor="t"/>
          <a:lstStyle/>
          <a:p>
            <a:pPr marL="0" indent="0" algn="ctr">
              <a:lnSpc>
                <a:spcPts val="2900"/>
              </a:lnSpc>
              <a:buNone/>
            </a:pPr>
            <a:r>
              <a:rPr lang="en-US" sz="2900" dirty="0">
                <a:solidFill>
                  <a:srgbClr val="D6E5EF"/>
                </a:solidFill>
                <a:latin typeface="Roboto Slab" pitchFamily="34" charset="0"/>
                <a:ea typeface="Roboto Slab" pitchFamily="34" charset="-122"/>
                <a:cs typeface="Roboto Slab" pitchFamily="34" charset="-120"/>
              </a:rPr>
              <a:t>5</a:t>
            </a:r>
            <a:endParaRPr lang="en-US" sz="2900" dirty="0"/>
          </a:p>
        </p:txBody>
      </p:sp>
      <p:sp>
        <p:nvSpPr>
          <p:cNvPr id="40" name="Text 38"/>
          <p:cNvSpPr/>
          <p:nvPr/>
        </p:nvSpPr>
        <p:spPr>
          <a:xfrm>
            <a:off x="8856583" y="6732984"/>
            <a:ext cx="1412438" cy="176451"/>
          </a:xfrm>
          <a:prstGeom prst="rect">
            <a:avLst/>
          </a:prstGeom>
          <a:noFill/>
          <a:ln/>
        </p:spPr>
        <p:txBody>
          <a:bodyPr wrap="none" lIns="0" tIns="0" rIns="0" bIns="0" rtlCol="0" anchor="t"/>
          <a:lstStyle/>
          <a:p>
            <a:pPr marL="0" indent="0" algn="ctr">
              <a:lnSpc>
                <a:spcPts val="1350"/>
              </a:lnSpc>
              <a:buNone/>
            </a:pPr>
            <a:r>
              <a:rPr lang="en-US" sz="1100" dirty="0">
                <a:solidFill>
                  <a:srgbClr val="D6E5EF"/>
                </a:solidFill>
                <a:latin typeface="Roboto Slab" pitchFamily="34" charset="0"/>
                <a:ea typeface="Roboto Slab" pitchFamily="34" charset="-122"/>
                <a:cs typeface="Roboto Slab" pitchFamily="34" charset="-120"/>
              </a:rPr>
              <a:t>Roadmap Phases</a:t>
            </a:r>
            <a:endParaRPr lang="en-US" sz="1100" dirty="0"/>
          </a:p>
        </p:txBody>
      </p:sp>
      <p:sp>
        <p:nvSpPr>
          <p:cNvPr id="41" name="Text 39"/>
          <p:cNvSpPr/>
          <p:nvPr/>
        </p:nvSpPr>
        <p:spPr>
          <a:xfrm>
            <a:off x="7355324" y="6948011"/>
            <a:ext cx="4415076" cy="141803"/>
          </a:xfrm>
          <a:prstGeom prst="rect">
            <a:avLst/>
          </a:prstGeom>
          <a:noFill/>
          <a:ln/>
        </p:spPr>
        <p:txBody>
          <a:bodyPr wrap="none" lIns="0" tIns="0" rIns="0" bIns="0" rtlCol="0" anchor="t"/>
          <a:lstStyle/>
          <a:p>
            <a:pPr marL="0" indent="0" algn="ctr">
              <a:lnSpc>
                <a:spcPts val="1100"/>
              </a:lnSpc>
              <a:buNone/>
            </a:pPr>
            <a:r>
              <a:rPr lang="en-US" sz="850" dirty="0">
                <a:solidFill>
                  <a:srgbClr val="D6E5EF"/>
                </a:solidFill>
                <a:latin typeface="Roboto" pitchFamily="34" charset="0"/>
                <a:ea typeface="Roboto" pitchFamily="34" charset="-122"/>
                <a:cs typeface="Roboto" pitchFamily="34" charset="-120"/>
              </a:rPr>
              <a:t>Planned enhancements across analytics, AI, and mobile</a:t>
            </a:r>
            <a:endParaRPr lang="en-US" sz="850" dirty="0"/>
          </a:p>
        </p:txBody>
      </p:sp>
      <p:sp>
        <p:nvSpPr>
          <p:cNvPr id="42" name="Rectangle 41">
            <a:extLst>
              <a:ext uri="{FF2B5EF4-FFF2-40B4-BE49-F238E27FC236}">
                <a16:creationId xmlns:a16="http://schemas.microsoft.com/office/drawing/2014/main" id="{07BA9F59-99CD-619F-665B-759F60CAB130}"/>
              </a:ext>
            </a:extLst>
          </p:cNvPr>
          <p:cNvSpPr/>
          <p:nvPr/>
        </p:nvSpPr>
        <p:spPr>
          <a:xfrm>
            <a:off x="12849225" y="7600950"/>
            <a:ext cx="1657350" cy="628650"/>
          </a:xfrm>
          <a:prstGeom prst="rect">
            <a:avLst/>
          </a:prstGeom>
          <a:solidFill>
            <a:srgbClr val="2027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1584</Words>
  <Application>Microsoft Office PowerPoint</Application>
  <PresentationFormat>Custom</PresentationFormat>
  <Paragraphs>105</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Roboto Slab</vt:lpstr>
      <vt:lpstr>Roboto</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Parth Patel</dc:creator>
  <cp:lastModifiedBy>parth patel</cp:lastModifiedBy>
  <cp:revision>3</cp:revision>
  <dcterms:created xsi:type="dcterms:W3CDTF">2026-04-06T18:14:24Z</dcterms:created>
  <dcterms:modified xsi:type="dcterms:W3CDTF">2026-04-07T04:20:47Z</dcterms:modified>
</cp:coreProperties>
</file>